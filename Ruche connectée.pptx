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58" r:id="rId5"/>
    <p:sldId id="271" r:id="rId6"/>
    <p:sldId id="267" r:id="rId7"/>
    <p:sldId id="270" r:id="rId8"/>
    <p:sldId id="277" r:id="rId9"/>
    <p:sldId id="276" r:id="rId10"/>
    <p:sldId id="278" r:id="rId11"/>
    <p:sldId id="272" r:id="rId12"/>
    <p:sldId id="273" r:id="rId13"/>
    <p:sldId id="274" r:id="rId14"/>
    <p:sldId id="280" r:id="rId15"/>
    <p:sldId id="281" r:id="rId16"/>
    <p:sldId id="282" r:id="rId1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7T14:15:10.1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24575,'4'0'0,"1"1"0,-1 0 0,0 0 0,0 0 0,0 1 0,0-1 0,0 1 0,-1 0 0,1 0 0,0 0 0,-1 1 0,0-1 0,6 6 0,44 47 0,-28-27 0,-17-19 0,0 1 0,-1 0 0,-1 0 0,0 1 0,0 0 0,-1 0 0,0 0 0,-1 1 0,3 12 0,-1-6 0,0 0 0,16 30 0,30 77 0,-50-124 0,0 1 0,0-1 0,1 1 0,-1-1 0,0 0 0,0 0 0,1 0 0,-1 0 0,1 0 0,-1-1 0,1 1 0,-1-1 0,1 1 0,0-1 0,-1 0 0,1 0 0,-1 0 0,1-1 0,-1 1 0,5-2 0,55-10 0,154-39 0,-192 47-455,0-1 0,26-10 0,-39 11-6371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7T14:15:14.6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1 130 24575,'6'0'0,"6"0"0,-1 1 0,1-1 0,0-1 0,-1 0 0,1-1 0,-1 0 0,1-1 0,-1 0 0,0-1 0,18-8 0,21-19 0,23-10 0,-29 31 91,-37 9-299,0 0 0,0-1 0,-1 1 0,1-1 0,-1 0 0,7-4 0,-3 0-6618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7T14:15:17.2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379 291 24575,'-5'-4'0,"0"-1"0,1 1 0,-1-1 0,1 0 0,0 0 0,1 0 0,-1 0 0,1-1 0,-3-6 0,4 9 0,-8-12 0,-1 0 0,0 1 0,-1 1 0,0 0 0,-1 0 0,0 1 0,-1 1 0,-16-10 0,-10-4 0,-79-36 0,80 48-1365,29 8-5461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16:14:37.594"/>
    </inkml:context>
    <inkml:brush xml:id="br0">
      <inkml:brushProperty name="width" value="0.05292" units="cm"/>
      <inkml:brushProperty name="height" value="0.05292" units="cm"/>
      <inkml:brushProperty name="ignorePressure" value="1"/>
    </inkml:brush>
  </inkml:definitions>
  <inkml:trace contextRef="#ctx0" brushRef="#br0">0 1,'3356'3355,"-3348"-3346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7T16:14:50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396 1 24575,'2'117'0,"-4"127"0,1-242 0,1 0 0,-1 0 0,0 0 0,1 0 0,-1 0 0,0 0 0,0 0 0,0 0 0,-1 0 0,1 0 0,0-1 0,-1 1 0,1 0 0,-1-1 0,1 1 0,-1-1 0,0 0 0,0 1 0,0-1 0,1 0 0,-1 0 0,0 0 0,0 0 0,-1-1 0,1 1 0,0-1 0,0 1 0,0-1 0,0 1 0,0-1 0,-3 0 0,-12 1 0,0-1 0,0 0 0,-20-3 0,6 1 0,-177 1-1365,191 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16:15:26.133"/>
    </inkml:context>
    <inkml:brush xml:id="br0">
      <inkml:brushProperty name="width" value="0.05292" units="cm"/>
      <inkml:brushProperty name="height" value="0.05292" units="cm"/>
      <inkml:brushProperty name="ignorePressure" value="1"/>
    </inkml:brush>
  </inkml:definitions>
  <inkml:trace contextRef="#ctx0" brushRef="#br0">0 0,'1702'1702,"-1698"-1698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7T16:15:26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396 1 24575,'2'117'0,"-4"127"0,1-242 0,1 0 0,-1 0 0,0 0 0,1 0 0,-1 0 0,0 0 0,0 0 0,0 0 0,-1 0 0,1 0 0,0-1 0,-1 1 0,1 0 0,-1-1 0,1 1 0,-1-1 0,0 0 0,0 1 0,0-1 0,1 0 0,-1 0 0,0 0 0,0 0 0,-1-1 0,1 1 0,0-1 0,0 1 0,0-1 0,0 1 0,0-1 0,-3 0 0,-12 1 0,0-1 0,0 0 0,-20-3 0,6 1 0,-177 1-1365,191 1-5461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16:19:18.498"/>
    </inkml:context>
    <inkml:brush xml:id="br0">
      <inkml:brushProperty name="width" value="0.05292" units="cm"/>
      <inkml:brushProperty name="height" value="0.05292" units="cm"/>
      <inkml:brushProperty name="ignorePressure" value="1"/>
    </inkml:brush>
  </inkml:definitions>
  <inkml:trace contextRef="#ctx0" brushRef="#br0">0 1,'3688'3687,"-3679"-3678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7T16:19:50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396 1 24575,'2'117'0,"-4"127"0,1-242 0,1 0 0,-1 0 0,0 0 0,1 0 0,-1 0 0,0 0 0,0 0 0,0 0 0,-1 0 0,1 0 0,0-1 0,-1 1 0,1 0 0,-1-1 0,1 1 0,-1-1 0,0 0 0,0 1 0,0-1 0,1 0 0,-1 0 0,0 0 0,0 0 0,-1-1 0,1 1 0,0-1 0,0 1 0,0-1 0,0 1 0,0-1 0,-3 0 0,-12 1 0,0-1 0,0 0 0,-20-3 0,6 1 0,-177 1-1365,191 1-5461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17:13:25.496"/>
    </inkml:context>
    <inkml:brush xml:id="br0">
      <inkml:brushProperty name="width" value="0.05292" units="cm"/>
      <inkml:brushProperty name="height" value="0.05292" units="cm"/>
      <inkml:brushProperty name="ignorePressure" value="1"/>
    </inkml:brush>
  </inkml:definitions>
  <inkml:trace contextRef="#ctx0" brushRef="#br0">0 1,'2418'2418,"-3008"-3008,1648 1648,-1050-1050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7T17:13:53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42 24575,'7'2'0,"0"0"0,-1-1 0,1 2 0,0-1 0,0 1 0,-1 0 0,0 1 0,1-1 0,-1 1 0,-1 1 0,10 8 0,18 10 0,-21-14 0,-2 0 0,1 0 0,-2 1 0,1 1 0,-1-1 0,15 25 0,12 13 0,-26-35 0,22 23 0,-30-34 0,-1-1 0,1 1 0,-1-1 0,1 0 0,-1 0 0,1 1 0,-1-1 0,1 0 0,0 0 0,0-1 0,0 1 0,-1 0 0,1-1 0,0 1 0,0-1 0,0 1 0,0-1 0,2 0 0,-2 0 0,-1-1 0,1 0 0,-1 0 0,0 1 0,1-1 0,-1 0 0,0 0 0,0 0 0,1 0 0,-1 0 0,0-1 0,0 1 0,0 0 0,-1 0 0,1-1 0,0 1 0,0-1 0,-1 1 0,2-3 0,10-37 0,-7 22 0,0 6 0,1 0 0,0 1 0,0 0 0,1 0 0,1 0 0,0 1 0,0 0 0,1 1 0,1 0 0,0 0 0,0 1 0,1 0 0,0 1 0,0 0 0,1 1 0,22-11 0,-18 11-100,-7 3-153,0 0 0,-1-1 0,1 0 0,12-9 0,-13 6-6573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17:14:55.362"/>
    </inkml:context>
    <inkml:brush xml:id="br0">
      <inkml:brushProperty name="width" value="0.05292" units="cm"/>
      <inkml:brushProperty name="height" value="0.05292" units="cm"/>
      <inkml:brushProperty name="ignorePressure" value="1"/>
    </inkml:brush>
  </inkml:definitions>
  <inkml:trace contextRef="#ctx0" brushRef="#br0">0 1,'2096'2096,"-2607"-2608,1428 1429,-910-910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7T17:15:01.8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42 24575,'7'2'0,"0"0"0,-1-1 0,1 2 0,0-1 0,0 1 0,-1 0 0,0 1 0,1-1 0,-1 1 0,-1 1 0,10 8 0,18 10 0,-21-14 0,-2 0 0,1 0 0,-2 1 0,1 1 0,-1-1 0,15 25 0,12 13 0,-26-35 0,22 23 0,-30-34 0,-1-1 0,1 1 0,-1-1 0,1 0 0,-1 0 0,1 1 0,-1-1 0,1 0 0,0 0 0,0-1 0,0 1 0,-1 0 0,1-1 0,0 1 0,0-1 0,0 1 0,0-1 0,2 0 0,-2 0 0,-1-1 0,1 0 0,-1 0 0,0 1 0,1-1 0,-1 0 0,0 0 0,0 0 0,1 0 0,-1 0 0,0-1 0,0 1 0,0 0 0,-1 0 0,1-1 0,0 1 0,0-1 0,-1 1 0,2-3 0,10-37 0,-7 22 0,0 6 0,1 0 0,0 1 0,0 0 0,1 0 0,1 0 0,0 1 0,0 0 0,1 1 0,1 0 0,0 0 0,0 1 0,1 0 0,0 1 0,0 0 0,1 1 0,22-11 0,-18 11-100,-7 3-153,0 0 0,-1-1 0,1 0 0,12-9 0,-13 6-6573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4ED9AA-CEB4-4AD9-8C7A-23415E96AB76}" type="datetimeFigureOut">
              <a:rPr lang="fr-CA" smtClean="0"/>
              <a:t>2026-04-27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A5D545-CFC7-407B-A287-21DE5112D16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27219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5D545-CFC7-407B-A287-21DE5112D163}" type="slidenum">
              <a:rPr lang="fr-CA" smtClean="0"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76093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CO2: 400-5000ppm \pm 40ppm</a:t>
            </a:r>
          </a:p>
          <a:p>
            <a:r>
              <a:rPr lang="fr-CA" dirty="0"/>
              <a:t>Temp: -10 – 60C -&gt; \pm 0.8C</a:t>
            </a:r>
          </a:p>
          <a:p>
            <a:r>
              <a:rPr lang="fr-CA" dirty="0"/>
              <a:t>Hum: 0-100% -&gt; \pm 6%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5D545-CFC7-407B-A287-21DE5112D163}" type="slidenum">
              <a:rPr lang="fr-CA" smtClean="0"/>
              <a:t>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08051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0.193mAh par cycle</a:t>
            </a:r>
          </a:p>
          <a:p>
            <a:r>
              <a:rPr lang="fr-FR" dirty="0"/>
              <a:t>4.64mAh par jour</a:t>
            </a:r>
          </a:p>
          <a:p>
            <a:r>
              <a:rPr lang="fr-FR" dirty="0"/>
              <a:t>Batterie 3400 mAh --&gt; ~700 jours</a:t>
            </a:r>
          </a:p>
          <a:p>
            <a:endParaRPr lang="fr-FR" dirty="0"/>
          </a:p>
          <a:p>
            <a:r>
              <a:rPr lang="fr-FR" dirty="0"/>
              <a:t>Puissance / jour : 17.2mWh ~ sécurité --&gt; *1.7 = 29.2 </a:t>
            </a:r>
            <a:r>
              <a:rPr lang="fr-FR" dirty="0" err="1"/>
              <a:t>mWh</a:t>
            </a:r>
            <a:r>
              <a:rPr lang="fr-FR" dirty="0"/>
              <a:t> --&gt; 2W est largement suffisant</a:t>
            </a: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5D545-CFC7-407B-A287-21DE5112D163}" type="slidenum">
              <a:rPr lang="fr-CA" smtClean="0"/>
              <a:t>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89022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473B26-E3A0-5E49-51E0-184DDF687E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81C7B34-B986-476B-2E56-1D6CCAC742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BCBD5E-E3A6-A030-8473-88CFC92EB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E7CE3-D983-4236-911A-3B9FB40A9245}" type="datetimeFigureOut">
              <a:rPr lang="fr-CA" smtClean="0"/>
              <a:t>2026-04-27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318703-B191-BDBE-F3A8-1FEEFFA21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3AAFB9-86BD-1667-B1E6-C4DBD969E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E7828-403F-40B6-AAB6-09B97C8AA009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8192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3C1C61-A351-7BE8-49BB-B1CA56B6B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C0B6C2-70FD-03D5-D21D-54C545BDD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C28AF65-0EF3-F958-C84E-B0773A8B0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E7CE3-D983-4236-911A-3B9FB40A9245}" type="datetimeFigureOut">
              <a:rPr lang="fr-CA" smtClean="0"/>
              <a:t>2026-04-27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BA51C2-1759-B4B1-9D6E-A8D2FF4A7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481BA2-E38B-B811-1DC2-6AE75F311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E7828-403F-40B6-AAB6-09B97C8AA009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41150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F0A1E1-CD87-5EAF-9EB3-0E3ABB937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6E53A76-F5E2-46E0-509B-CCF76C105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36C6381-55FE-5664-5FF2-8DFFDAEE8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E7CE3-D983-4236-911A-3B9FB40A9245}" type="datetimeFigureOut">
              <a:rPr lang="fr-CA" smtClean="0"/>
              <a:t>2026-04-27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2309411-FA1E-940D-550A-5BBA4740C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A25A22-B60E-BE58-3645-A81F7D0E6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E7828-403F-40B6-AAB6-09B97C8AA009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57087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1EE2A9-D5CA-8088-9B79-6C0E49480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72110FF-CC4A-E800-81BB-53A5FF676D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5C24669-9617-7A6C-7650-41A1974496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0EDA738-5177-20AB-1DC0-0A03A65FB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E7CE3-D983-4236-911A-3B9FB40A9245}" type="datetimeFigureOut">
              <a:rPr lang="fr-CA" smtClean="0"/>
              <a:t>2026-04-27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409BED5-AF7F-BC05-CB33-77E533188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92E6835-62DD-B01A-EB2D-1AB7E9CD5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E7828-403F-40B6-AAB6-09B97C8AA009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29831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D3E0AF-B741-2559-F702-FB0BD5C30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7581F38-EE57-A88C-42E6-6F242047A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F72075D-00CF-9845-B868-AE855F43C7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972F08D-C19B-37D0-67F9-590A615E82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C497855-A5F2-DF9B-FD89-7EA5805EA2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2611B7D-1EA6-5587-B8B8-2D488F8F3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E7CE3-D983-4236-911A-3B9FB40A9245}" type="datetimeFigureOut">
              <a:rPr lang="fr-CA" smtClean="0"/>
              <a:t>2026-04-27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01A64D4-E005-4E46-0B0F-E20D5E620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0753484-4C0C-71F7-61C2-D1D9A2935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E7828-403F-40B6-AAB6-09B97C8AA009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9692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43EE44-335B-6117-477F-56CF80360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3AA4E69-70C4-CF75-EC7D-5582D7790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E7CE3-D983-4236-911A-3B9FB40A9245}" type="datetimeFigureOut">
              <a:rPr lang="fr-CA" smtClean="0"/>
              <a:t>2026-04-27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869DCAD-E8DA-6C78-1E10-17D3167E2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FA081EE-1A9D-8433-DAA7-AAC6D1882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E7828-403F-40B6-AAB6-09B97C8AA009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18308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DC59EDC-1111-756F-3E7C-9887EDB56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E7CE3-D983-4236-911A-3B9FB40A9245}" type="datetimeFigureOut">
              <a:rPr lang="fr-CA" smtClean="0"/>
              <a:t>2026-04-27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00AC76D-38B2-5F21-A1C9-278D95947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5A7F4D9-DE81-F2AF-B34C-6C61C16FF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E7828-403F-40B6-AAB6-09B97C8AA009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38162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509A8D-9F4B-E7F8-03B3-BD1CD5158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4A1A8E-047E-7621-DBD5-92F68029E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8B004BC-1943-B215-E39A-96C15FC56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714C14B-0E9F-EC3E-7451-DD4F64E10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E7CE3-D983-4236-911A-3B9FB40A9245}" type="datetimeFigureOut">
              <a:rPr lang="fr-CA" smtClean="0"/>
              <a:t>2026-04-27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F1EAEB9-B5ED-2075-43FC-6C0354B0D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73C53D6-7138-83FB-F614-73E1FC701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E7828-403F-40B6-AAB6-09B97C8AA009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18021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8FE089-7232-5584-2A8B-EC5CC1214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3FD3A01-C55A-9182-BD1F-7F8DE2DEA1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019ED8D-AF7B-23BF-DC72-ABEC4A2C0C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B729008-02E4-68DD-A1BE-AC192CDB0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E7CE3-D983-4236-911A-3B9FB40A9245}" type="datetimeFigureOut">
              <a:rPr lang="fr-CA" smtClean="0"/>
              <a:t>2026-04-27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AEA4E7C-C5F5-F079-AD5E-35DFD3C9D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2825251-B039-BB1D-69B3-39BF92B82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E7828-403F-40B6-AAB6-09B97C8AA009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17319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7C8489-3476-8828-EAA4-D4D750694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0110631-9A61-DB25-C31C-E847B1CC04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CF22526-318C-7255-A28A-A187EF9EA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E7CE3-D983-4236-911A-3B9FB40A9245}" type="datetimeFigureOut">
              <a:rPr lang="fr-CA" smtClean="0"/>
              <a:t>2026-04-27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F7ABBEE-E6C9-98AA-A1DB-25BB58924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BDDE7A-A6D5-F761-055B-639B7D3A4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E7828-403F-40B6-AAB6-09B97C8AA009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46286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881584D-F490-2935-E43D-061681835E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40F51A3-5075-9497-C4E9-B618AA1C5D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61FA9E-312F-FDC4-417B-0628AF94B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E7CE3-D983-4236-911A-3B9FB40A9245}" type="datetimeFigureOut">
              <a:rPr lang="fr-CA" smtClean="0"/>
              <a:t>2026-04-27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3B3993-6F75-C15E-7728-6747BA037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A856D12-E0FC-6918-BAFA-3647C8F29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E7828-403F-40B6-AAB6-09B97C8AA009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54758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D61BA24-FC41-1056-957D-692D3E9C4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63FB53D-2B9C-1562-FAB6-F55902AA0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012137F-DCEB-B0DA-589F-C135650340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1E7CE3-D983-4236-911A-3B9FB40A9245}" type="datetimeFigureOut">
              <a:rPr lang="fr-CA" smtClean="0"/>
              <a:t>2026-04-27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9E1B87-FB33-FFDB-8D4B-2970952020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C05632-6230-F5B0-E92F-666B17821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4E7828-403F-40B6-AAB6-09B97C8AA009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2668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image" Target="../media/image18.jpeg"/><Relationship Id="rId3" Type="http://schemas.openxmlformats.org/officeDocument/2006/relationships/image" Target="../media/image15.png"/><Relationship Id="rId7" Type="http://schemas.openxmlformats.org/officeDocument/2006/relationships/image" Target="../media/image20.png"/><Relationship Id="rId12" Type="http://schemas.openxmlformats.org/officeDocument/2006/relationships/customXml" Target="../ink/ink7.xml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6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11" Type="http://schemas.openxmlformats.org/officeDocument/2006/relationships/image" Target="../media/image22.png"/><Relationship Id="rId5" Type="http://schemas.openxmlformats.org/officeDocument/2006/relationships/image" Target="../media/image17.jpeg"/><Relationship Id="rId15" Type="http://schemas.openxmlformats.org/officeDocument/2006/relationships/image" Target="../media/image24.png"/><Relationship Id="rId10" Type="http://schemas.openxmlformats.org/officeDocument/2006/relationships/customXml" Target="../ink/ink6.xml"/><Relationship Id="rId4" Type="http://schemas.openxmlformats.org/officeDocument/2006/relationships/image" Target="../media/image16.jpeg"/><Relationship Id="rId9" Type="http://schemas.openxmlformats.org/officeDocument/2006/relationships/image" Target="../media/image21.png"/><Relationship Id="rId14" Type="http://schemas.openxmlformats.org/officeDocument/2006/relationships/customXml" Target="../ink/ink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5" Type="http://schemas.openxmlformats.org/officeDocument/2006/relationships/image" Target="../media/image25.png"/><Relationship Id="rId10" Type="http://schemas.openxmlformats.org/officeDocument/2006/relationships/customXml" Target="../ink/ink13.xml"/><Relationship Id="rId4" Type="http://schemas.openxmlformats.org/officeDocument/2006/relationships/customXml" Target="../ink/ink10.xml"/><Relationship Id="rId9" Type="http://schemas.openxmlformats.org/officeDocument/2006/relationships/customXml" Target="../ink/ink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9025A39-A512-19DF-3DB6-344A3849CF9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0"/>
            <a:ext cx="12191980" cy="685799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F39D3E9-96B4-A3DE-3AFB-F66D9D00B7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FFFFFF"/>
                </a:solidFill>
              </a:rPr>
              <a:t>Ruche connectée</a:t>
            </a:r>
            <a:endParaRPr lang="fr-CA" dirty="0">
              <a:solidFill>
                <a:srgbClr val="FFFFFF"/>
              </a:solidFill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3129AE4-8A44-0F65-82B3-379AD56681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fr-FR" sz="3200" dirty="0">
                <a:solidFill>
                  <a:srgbClr val="FFFFFF"/>
                </a:solidFill>
              </a:rPr>
              <a:t>Clément P.</a:t>
            </a:r>
          </a:p>
          <a:p>
            <a:r>
              <a:rPr lang="fr-FR" dirty="0">
                <a:solidFill>
                  <a:srgbClr val="FFFFFF"/>
                </a:solidFill>
              </a:rPr>
              <a:t>          Michel P. (sup.)</a:t>
            </a:r>
            <a:endParaRPr lang="fr-CA" dirty="0">
              <a:solidFill>
                <a:srgbClr val="FFFFFF"/>
              </a:solidFill>
            </a:endParaRP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85042A6F-CF97-DD8C-42B2-F7D2485F9D40}"/>
              </a:ext>
            </a:extLst>
          </p:cNvPr>
          <p:cNvSpPr/>
          <p:nvPr/>
        </p:nvSpPr>
        <p:spPr>
          <a:xfrm>
            <a:off x="6400800" y="4406900"/>
            <a:ext cx="1409700" cy="1911350"/>
          </a:xfrm>
          <a:prstGeom prst="arc">
            <a:avLst>
              <a:gd name="adj1" fmla="val 16200000"/>
              <a:gd name="adj2" fmla="val 1041241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5E689F9-2382-0DF8-F4A6-A4479F983721}"/>
              </a:ext>
            </a:extLst>
          </p:cNvPr>
          <p:cNvSpPr/>
          <p:nvPr/>
        </p:nvSpPr>
        <p:spPr>
          <a:xfrm rot="16200000">
            <a:off x="4470400" y="4641850"/>
            <a:ext cx="1847850" cy="2324100"/>
          </a:xfrm>
          <a:prstGeom prst="arc">
            <a:avLst>
              <a:gd name="adj1" fmla="val 16499047"/>
              <a:gd name="adj2" fmla="val 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4" name="Encre 23">
                <a:extLst>
                  <a:ext uri="{FF2B5EF4-FFF2-40B4-BE49-F238E27FC236}">
                    <a16:creationId xmlns:a16="http://schemas.microsoft.com/office/drawing/2014/main" id="{85E534E7-C3DA-60B5-B2EC-22A50C2AF648}"/>
                  </a:ext>
                </a:extLst>
              </p14:cNvPr>
              <p14:cNvContentPartPr/>
              <p14:nvPr/>
            </p14:nvContentPartPr>
            <p14:xfrm>
              <a:off x="4140200" y="5543260"/>
              <a:ext cx="262080" cy="163440"/>
            </p14:xfrm>
          </p:contentPart>
        </mc:Choice>
        <mc:Fallback xmlns="">
          <p:pic>
            <p:nvPicPr>
              <p:cNvPr id="24" name="Encre 23">
                <a:extLst>
                  <a:ext uri="{FF2B5EF4-FFF2-40B4-BE49-F238E27FC236}">
                    <a16:creationId xmlns:a16="http://schemas.microsoft.com/office/drawing/2014/main" id="{85E534E7-C3DA-60B5-B2EC-22A50C2AF64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31200" y="5534620"/>
                <a:ext cx="279720" cy="181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e 27">
            <a:extLst>
              <a:ext uri="{FF2B5EF4-FFF2-40B4-BE49-F238E27FC236}">
                <a16:creationId xmlns:a16="http://schemas.microsoft.com/office/drawing/2014/main" id="{1801CF23-8F84-DFE4-9115-D64A0DE9E5A5}"/>
              </a:ext>
            </a:extLst>
          </p:cNvPr>
          <p:cNvGrpSpPr/>
          <p:nvPr/>
        </p:nvGrpSpPr>
        <p:grpSpPr>
          <a:xfrm>
            <a:off x="7661360" y="5457940"/>
            <a:ext cx="279720" cy="105120"/>
            <a:chOff x="7661360" y="5457940"/>
            <a:chExt cx="279720" cy="10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6" name="Encre 25">
                  <a:extLst>
                    <a:ext uri="{FF2B5EF4-FFF2-40B4-BE49-F238E27FC236}">
                      <a16:creationId xmlns:a16="http://schemas.microsoft.com/office/drawing/2014/main" id="{0A478C23-D13A-73EB-054B-46D22FBA628A}"/>
                    </a:ext>
                  </a:extLst>
                </p14:cNvPr>
                <p14:cNvContentPartPr/>
                <p14:nvPr/>
              </p14:nvContentPartPr>
              <p14:xfrm>
                <a:off x="7803920" y="5515900"/>
                <a:ext cx="137160" cy="47160"/>
              </p14:xfrm>
            </p:contentPart>
          </mc:Choice>
          <mc:Fallback xmlns="">
            <p:pic>
              <p:nvPicPr>
                <p:cNvPr id="26" name="Encre 25">
                  <a:extLst>
                    <a:ext uri="{FF2B5EF4-FFF2-40B4-BE49-F238E27FC236}">
                      <a16:creationId xmlns:a16="http://schemas.microsoft.com/office/drawing/2014/main" id="{0A478C23-D13A-73EB-054B-46D22FBA628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795280" y="5506900"/>
                  <a:ext cx="1548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7" name="Encre 26">
                  <a:extLst>
                    <a:ext uri="{FF2B5EF4-FFF2-40B4-BE49-F238E27FC236}">
                      <a16:creationId xmlns:a16="http://schemas.microsoft.com/office/drawing/2014/main" id="{DB4FA56B-FB40-CF0E-3F8C-55DB4865EDDF}"/>
                    </a:ext>
                  </a:extLst>
                </p14:cNvPr>
                <p14:cNvContentPartPr/>
                <p14:nvPr/>
              </p14:nvContentPartPr>
              <p14:xfrm>
                <a:off x="7661360" y="5457940"/>
                <a:ext cx="136800" cy="104760"/>
              </p14:xfrm>
            </p:contentPart>
          </mc:Choice>
          <mc:Fallback xmlns="">
            <p:pic>
              <p:nvPicPr>
                <p:cNvPr id="27" name="Encre 26">
                  <a:extLst>
                    <a:ext uri="{FF2B5EF4-FFF2-40B4-BE49-F238E27FC236}">
                      <a16:creationId xmlns:a16="http://schemas.microsoft.com/office/drawing/2014/main" id="{DB4FA56B-FB40-CF0E-3F8C-55DB4865EDD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652360" y="5449300"/>
                  <a:ext cx="154440" cy="122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562801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E05D1D64-2C14-A053-B70F-35B1328B3A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656" y="578066"/>
            <a:ext cx="4186451" cy="558193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272F617C-717C-88F9-B29D-CF6E831C1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931" y="201352"/>
            <a:ext cx="10515600" cy="1325563"/>
          </a:xfrm>
        </p:spPr>
        <p:txBody>
          <a:bodyPr/>
          <a:lstStyle/>
          <a:p>
            <a:r>
              <a:rPr lang="fr-FR" dirty="0"/>
              <a:t>Problématique</a:t>
            </a:r>
            <a:endParaRPr lang="fr-CA" dirty="0"/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6E75E243-DC7D-3C91-1D73-6A73F0DCD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564" y="1541091"/>
            <a:ext cx="4202890" cy="4351338"/>
          </a:xfrm>
        </p:spPr>
        <p:txBody>
          <a:bodyPr/>
          <a:lstStyle/>
          <a:p>
            <a:r>
              <a:rPr lang="fr-FR" dirty="0"/>
              <a:t>État de santé inconnu</a:t>
            </a:r>
          </a:p>
          <a:p>
            <a:r>
              <a:rPr lang="fr-FR" dirty="0"/>
              <a:t>Besoin de déplacement</a:t>
            </a:r>
          </a:p>
          <a:p>
            <a:r>
              <a:rPr lang="fr-FR" dirty="0"/>
              <a:t>Suivi dans le temps compliqué</a:t>
            </a:r>
          </a:p>
          <a:p>
            <a:r>
              <a:rPr lang="fr-FR" dirty="0"/>
              <a:t>Il n’y a pas de réseau à proximité</a:t>
            </a:r>
          </a:p>
          <a:p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881D3D5E-F6FA-008B-D433-35CE32CC1F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171" y="581892"/>
            <a:ext cx="2573483" cy="3431310"/>
          </a:xfrm>
          <a:prstGeom prst="rect">
            <a:avLst/>
          </a:prstGeom>
        </p:spPr>
      </p:pic>
      <p:sp>
        <p:nvSpPr>
          <p:cNvPr id="14" name="AutoShape 6">
            <a:extLst>
              <a:ext uri="{FF2B5EF4-FFF2-40B4-BE49-F238E27FC236}">
                <a16:creationId xmlns:a16="http://schemas.microsoft.com/office/drawing/2014/main" id="{234C0ABF-1A7B-E60C-6655-4AFF8DBCFA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29025" y="2371725"/>
            <a:ext cx="4933950" cy="211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CC1E27CF-7EB0-4DCB-A102-B20FBCDF0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1240" y="4107266"/>
            <a:ext cx="4933950" cy="211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6087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647920-533E-B284-E101-421773242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6CF2A2B-0745-440C-9224-C5C6A0A42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BE6D6B-84C9-4D2B-97EB-773B7369EF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5A3923F-7650-9BBC-8315-F41AFE659FC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90" b="20530"/>
          <a:stretch>
            <a:fillRect/>
          </a:stretch>
        </p:blipFill>
        <p:spPr>
          <a:xfrm>
            <a:off x="0" y="10"/>
            <a:ext cx="12192001" cy="6857990"/>
          </a:xfrm>
          <a:prstGeom prst="rect">
            <a:avLst/>
          </a:prstGeom>
        </p:spPr>
      </p:pic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B4294855-928A-0AC3-6882-2176E3D84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073" y="185085"/>
            <a:ext cx="2237927" cy="475315"/>
          </a:xfrm>
          <a:solidFill>
            <a:schemeClr val="tx1"/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</a:rPr>
              <a:t>Plan du site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F15E9EA-AADC-82D0-8E87-D6F0522593C4}"/>
              </a:ext>
            </a:extLst>
          </p:cNvPr>
          <p:cNvSpPr/>
          <p:nvPr/>
        </p:nvSpPr>
        <p:spPr>
          <a:xfrm>
            <a:off x="6089650" y="1219200"/>
            <a:ext cx="755650" cy="46355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01884E9-1F8B-4013-2F1D-A106133218CB}"/>
              </a:ext>
            </a:extLst>
          </p:cNvPr>
          <p:cNvSpPr txBox="1"/>
          <p:nvPr/>
        </p:nvSpPr>
        <p:spPr>
          <a:xfrm>
            <a:off x="6940550" y="1035050"/>
            <a:ext cx="231775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Centre-ville (maison)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ABD4F4EC-5FD2-E5B6-BED4-B924936296C4}"/>
              </a:ext>
            </a:extLst>
          </p:cNvPr>
          <p:cNvSpPr/>
          <p:nvPr/>
        </p:nvSpPr>
        <p:spPr>
          <a:xfrm rot="19595499">
            <a:off x="8476263" y="3768487"/>
            <a:ext cx="687596" cy="151961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F751096-73E6-2468-07B6-692F6190D960}"/>
              </a:ext>
            </a:extLst>
          </p:cNvPr>
          <p:cNvSpPr txBox="1"/>
          <p:nvPr/>
        </p:nvSpPr>
        <p:spPr>
          <a:xfrm>
            <a:off x="9340850" y="4241800"/>
            <a:ext cx="93980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Ruches</a:t>
            </a:r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45991A09-4A33-633B-66EB-2F373C258673}"/>
              </a:ext>
            </a:extLst>
          </p:cNvPr>
          <p:cNvCxnSpPr>
            <a:cxnSpLocks/>
          </p:cNvCxnSpPr>
          <p:nvPr/>
        </p:nvCxnSpPr>
        <p:spPr>
          <a:xfrm>
            <a:off x="6699250" y="1714500"/>
            <a:ext cx="1631950" cy="209550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B0C527AB-A5C8-C78C-5400-254B80F9CB09}"/>
              </a:ext>
            </a:extLst>
          </p:cNvPr>
          <p:cNvSpPr txBox="1"/>
          <p:nvPr/>
        </p:nvSpPr>
        <p:spPr>
          <a:xfrm>
            <a:off x="7766050" y="2527300"/>
            <a:ext cx="189865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Distance: ~18km</a:t>
            </a:r>
            <a:endParaRPr lang="fr-CA" dirty="0">
              <a:solidFill>
                <a:schemeClr val="bg1"/>
              </a:solidFill>
            </a:endParaRPr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F51B8D2A-03A1-40ED-080B-3F7F0A721C43}"/>
              </a:ext>
            </a:extLst>
          </p:cNvPr>
          <p:cNvCxnSpPr>
            <a:cxnSpLocks/>
          </p:cNvCxnSpPr>
          <p:nvPr/>
        </p:nvCxnSpPr>
        <p:spPr>
          <a:xfrm>
            <a:off x="1454150" y="3702050"/>
            <a:ext cx="6845300" cy="79375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Ellipse 25">
            <a:extLst>
              <a:ext uri="{FF2B5EF4-FFF2-40B4-BE49-F238E27FC236}">
                <a16:creationId xmlns:a16="http://schemas.microsoft.com/office/drawing/2014/main" id="{33E6410C-788F-3311-85E6-0AF6E9527E1D}"/>
              </a:ext>
            </a:extLst>
          </p:cNvPr>
          <p:cNvSpPr/>
          <p:nvPr/>
        </p:nvSpPr>
        <p:spPr>
          <a:xfrm>
            <a:off x="114300" y="3117850"/>
            <a:ext cx="1250950" cy="100965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2379F5ED-E806-4878-207C-D69CE5BB7DA7}"/>
              </a:ext>
            </a:extLst>
          </p:cNvPr>
          <p:cNvSpPr txBox="1"/>
          <p:nvPr/>
        </p:nvSpPr>
        <p:spPr>
          <a:xfrm>
            <a:off x="3695700" y="4292600"/>
            <a:ext cx="189865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Distance: ~200m</a:t>
            </a:r>
            <a:endParaRPr lang="fr-CA" dirty="0">
              <a:solidFill>
                <a:schemeClr val="bg1"/>
              </a:solidFill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16782D06-DFBE-FA28-0678-DD57D096F285}"/>
              </a:ext>
            </a:extLst>
          </p:cNvPr>
          <p:cNvSpPr txBox="1"/>
          <p:nvPr/>
        </p:nvSpPr>
        <p:spPr>
          <a:xfrm>
            <a:off x="323850" y="2686050"/>
            <a:ext cx="217805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Wi-Fi le plus proche</a:t>
            </a:r>
          </a:p>
        </p:txBody>
      </p:sp>
    </p:spTree>
    <p:extLst>
      <p:ext uri="{BB962C8B-B14F-4D97-AF65-F5344CB8AC3E}">
        <p14:creationId xmlns:p14="http://schemas.microsoft.com/office/powerpoint/2010/main" val="2586445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4D6A6-B948-4EE7-1B0B-4470C6132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82021E-2B84-BE99-0003-A21B9608D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504899" cy="1934523"/>
          </a:xfrm>
        </p:spPr>
        <p:txBody>
          <a:bodyPr/>
          <a:lstStyle/>
          <a:p>
            <a:r>
              <a:rPr lang="fr-FR" dirty="0"/>
              <a:t>Solution proposée: Traitement / LoRa</a:t>
            </a:r>
            <a:endParaRPr lang="fr-CA" dirty="0"/>
          </a:p>
        </p:txBody>
      </p:sp>
      <p:sp>
        <p:nvSpPr>
          <p:cNvPr id="5" name="AutoShape 8">
            <a:extLst>
              <a:ext uri="{FF2B5EF4-FFF2-40B4-BE49-F238E27FC236}">
                <a16:creationId xmlns:a16="http://schemas.microsoft.com/office/drawing/2014/main" id="{7B23A74C-5E88-50A1-BCB5-201B5D59BD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81075" y="2566988"/>
            <a:ext cx="10534650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5E982F2E-83A1-1807-F5F7-23773297D1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0782" y="4011660"/>
            <a:ext cx="10534650" cy="313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6288DBA-D90F-EC9A-89F7-933DF38CF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2" y="2556671"/>
            <a:ext cx="5534168" cy="362754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188D8A0-39D8-44C6-D42E-76D85267A6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3247" y="768116"/>
            <a:ext cx="5626108" cy="193144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9F83BF6-1A68-0F23-3892-0D5D04B85D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7950" y="2930667"/>
            <a:ext cx="5973516" cy="3295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93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8C908-3B57-7701-FE17-5CA148382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20DC7D-78CF-6365-BFDD-60C42A463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504899" cy="1934523"/>
          </a:xfrm>
        </p:spPr>
        <p:txBody>
          <a:bodyPr/>
          <a:lstStyle/>
          <a:p>
            <a:r>
              <a:rPr lang="fr-FR" dirty="0"/>
              <a:t>Solution proposée: Traitement / LoRa</a:t>
            </a:r>
            <a:endParaRPr lang="fr-CA" dirty="0"/>
          </a:p>
        </p:txBody>
      </p:sp>
      <p:sp>
        <p:nvSpPr>
          <p:cNvPr id="5" name="AutoShape 8">
            <a:extLst>
              <a:ext uri="{FF2B5EF4-FFF2-40B4-BE49-F238E27FC236}">
                <a16:creationId xmlns:a16="http://schemas.microsoft.com/office/drawing/2014/main" id="{E3667ABC-4928-9F1A-4760-488BA884C5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81075" y="2566988"/>
            <a:ext cx="10534650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506D8DE7-2D9B-66E8-1E67-1A2F3634EF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0782" y="4011660"/>
            <a:ext cx="10534650" cy="313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1493AFE-31C1-8CD7-7E33-974253D7A1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3247" y="768116"/>
            <a:ext cx="5626108" cy="193144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C58ADB9E-39D8-F828-1ADB-77E375DFF6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7950" y="2930667"/>
            <a:ext cx="5973516" cy="3295934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A837AFF3-DBF5-317F-8803-96E6244EDF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502" y="2417483"/>
            <a:ext cx="4999038" cy="3384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9745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9557D-11B7-6B8A-D415-28574E68A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3C4EFE-0E81-FEC0-3FB8-7FB1DFF5E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Solution proposée : Données</a:t>
            </a:r>
            <a:endParaRPr lang="fr-CA" dirty="0"/>
          </a:p>
        </p:txBody>
      </p:sp>
      <p:sp>
        <p:nvSpPr>
          <p:cNvPr id="5" name="AutoShape 8">
            <a:extLst>
              <a:ext uri="{FF2B5EF4-FFF2-40B4-BE49-F238E27FC236}">
                <a16:creationId xmlns:a16="http://schemas.microsoft.com/office/drawing/2014/main" id="{76D3A70E-0B42-6E71-2AF8-21C8D6F990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2475" y="1817688"/>
            <a:ext cx="10534650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4A77A5E0-C974-B2F8-7DF0-A64B84815B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0782" y="4011660"/>
            <a:ext cx="10534650" cy="313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pic>
        <p:nvPicPr>
          <p:cNvPr id="8194" name="Picture 2" descr="Top view of Adafruit SCD-41 - NDIR CO2 Temperature and Humidity Sensor.">
            <a:extLst>
              <a:ext uri="{FF2B5EF4-FFF2-40B4-BE49-F238E27FC236}">
                <a16:creationId xmlns:a16="http://schemas.microsoft.com/office/drawing/2014/main" id="{AC481F42-CBB2-91AC-FEB1-0D852AA63A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48" t="17881" r="23111" b="17747"/>
          <a:stretch>
            <a:fillRect/>
          </a:stretch>
        </p:blipFill>
        <p:spPr bwMode="auto">
          <a:xfrm>
            <a:off x="8609747" y="356736"/>
            <a:ext cx="3022979" cy="2722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85F653C-3731-DE8A-930D-EA87E60492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9400" y="1601863"/>
            <a:ext cx="4066779" cy="477988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18C40AE-665E-8DF2-1CAB-0AFFA5CE69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0" t="16262" r="22639" b="28738"/>
          <a:stretch>
            <a:fillRect/>
          </a:stretch>
        </p:blipFill>
        <p:spPr>
          <a:xfrm>
            <a:off x="580883" y="1611478"/>
            <a:ext cx="3143250" cy="377190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30E5732B-CDC8-6E05-A8D0-88B04E77D3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59" t="30556" r="26914" b="29166"/>
          <a:stretch>
            <a:fillRect/>
          </a:stretch>
        </p:blipFill>
        <p:spPr>
          <a:xfrm>
            <a:off x="8621840" y="3733800"/>
            <a:ext cx="3132010" cy="263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758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E2230-C1DB-DA6A-2D27-0EE6D995F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1F221F-FA45-49AF-8BA4-BFB8A8DD6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Solution proposée: Alimentation</a:t>
            </a:r>
            <a:endParaRPr lang="fr-CA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1BF2B2C9-F3EB-1705-30EA-BE77F3BA3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52" y="1469339"/>
            <a:ext cx="7734300" cy="23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D2C67F9B-0D91-3038-0135-9DADB64EE3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06" b="16318"/>
          <a:stretch>
            <a:fillRect/>
          </a:stretch>
        </p:blipFill>
        <p:spPr bwMode="auto">
          <a:xfrm>
            <a:off x="616933" y="3862316"/>
            <a:ext cx="3067797" cy="265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CN3791 MPPT Solar Li-ion/LiPo Charging Boards: what they are and how to use  them safely">
            <a:extLst>
              <a:ext uri="{FF2B5EF4-FFF2-40B4-BE49-F238E27FC236}">
                <a16:creationId xmlns:a16="http://schemas.microsoft.com/office/drawing/2014/main" id="{D51A0C1B-348E-380F-73D4-395F948096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0" t="28657" r="11227" b="23184"/>
          <a:stretch>
            <a:fillRect/>
          </a:stretch>
        </p:blipFill>
        <p:spPr bwMode="auto">
          <a:xfrm>
            <a:off x="3995510" y="4028121"/>
            <a:ext cx="3562066" cy="227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Encre 7">
                <a:extLst>
                  <a:ext uri="{FF2B5EF4-FFF2-40B4-BE49-F238E27FC236}">
                    <a16:creationId xmlns:a16="http://schemas.microsoft.com/office/drawing/2014/main" id="{A33685FC-3852-22D0-FE9E-ECF34182DAAB}"/>
                  </a:ext>
                </a:extLst>
              </p14:cNvPr>
              <p14:cNvContentPartPr/>
              <p14:nvPr/>
            </p14:nvContentPartPr>
            <p14:xfrm>
              <a:off x="4342707" y="3128991"/>
              <a:ext cx="1211400" cy="1211400"/>
            </p14:xfrm>
          </p:contentPart>
        </mc:Choice>
        <mc:Fallback xmlns="">
          <p:pic>
            <p:nvPicPr>
              <p:cNvPr id="8" name="Encre 7">
                <a:extLst>
                  <a:ext uri="{FF2B5EF4-FFF2-40B4-BE49-F238E27FC236}">
                    <a16:creationId xmlns:a16="http://schemas.microsoft.com/office/drawing/2014/main" id="{A33685FC-3852-22D0-FE9E-ECF34182DAA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33347" y="3119631"/>
                <a:ext cx="1230120" cy="12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Encre 9">
                <a:extLst>
                  <a:ext uri="{FF2B5EF4-FFF2-40B4-BE49-F238E27FC236}">
                    <a16:creationId xmlns:a16="http://schemas.microsoft.com/office/drawing/2014/main" id="{113394E3-9FFD-302B-8EE3-A6827F62119E}"/>
                  </a:ext>
                </a:extLst>
              </p14:cNvPr>
              <p14:cNvContentPartPr/>
              <p14:nvPr/>
            </p14:nvContentPartPr>
            <p14:xfrm>
              <a:off x="5425587" y="4203231"/>
              <a:ext cx="143640" cy="146160"/>
            </p14:xfrm>
          </p:contentPart>
        </mc:Choice>
        <mc:Fallback xmlns="">
          <p:pic>
            <p:nvPicPr>
              <p:cNvPr id="10" name="Encre 9">
                <a:extLst>
                  <a:ext uri="{FF2B5EF4-FFF2-40B4-BE49-F238E27FC236}">
                    <a16:creationId xmlns:a16="http://schemas.microsoft.com/office/drawing/2014/main" id="{113394E3-9FFD-302B-8EE3-A6827F62119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19467" y="4197111"/>
                <a:ext cx="15588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Encre 12">
                <a:extLst>
                  <a:ext uri="{FF2B5EF4-FFF2-40B4-BE49-F238E27FC236}">
                    <a16:creationId xmlns:a16="http://schemas.microsoft.com/office/drawing/2014/main" id="{D664C9FA-5D0E-16E9-8983-A9FE25DC2CCB}"/>
                  </a:ext>
                </a:extLst>
              </p14:cNvPr>
              <p14:cNvContentPartPr/>
              <p14:nvPr/>
            </p14:nvContentPartPr>
            <p14:xfrm rot="1165979">
              <a:off x="1991283" y="3211390"/>
              <a:ext cx="614407" cy="614407"/>
            </p14:xfrm>
          </p:contentPart>
        </mc:Choice>
        <mc:Fallback xmlns="">
          <p:pic>
            <p:nvPicPr>
              <p:cNvPr id="13" name="Encre 12">
                <a:extLst>
                  <a:ext uri="{FF2B5EF4-FFF2-40B4-BE49-F238E27FC236}">
                    <a16:creationId xmlns:a16="http://schemas.microsoft.com/office/drawing/2014/main" id="{D664C9FA-5D0E-16E9-8983-A9FE25DC2CC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 rot="1165979">
                <a:off x="1981925" y="3202032"/>
                <a:ext cx="633124" cy="6331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" name="Encre 13">
                <a:extLst>
                  <a:ext uri="{FF2B5EF4-FFF2-40B4-BE49-F238E27FC236}">
                    <a16:creationId xmlns:a16="http://schemas.microsoft.com/office/drawing/2014/main" id="{6547BAA9-1369-CE11-DD06-3380B4D0D7C8}"/>
                  </a:ext>
                </a:extLst>
              </p14:cNvPr>
              <p14:cNvContentPartPr/>
              <p14:nvPr/>
            </p14:nvContentPartPr>
            <p14:xfrm rot="1165979">
              <a:off x="2377588" y="3765082"/>
              <a:ext cx="143640" cy="146160"/>
            </p14:xfrm>
          </p:contentPart>
        </mc:Choice>
        <mc:Fallback xmlns="">
          <p:pic>
            <p:nvPicPr>
              <p:cNvPr id="14" name="Encre 13">
                <a:extLst>
                  <a:ext uri="{FF2B5EF4-FFF2-40B4-BE49-F238E27FC236}">
                    <a16:creationId xmlns:a16="http://schemas.microsoft.com/office/drawing/2014/main" id="{6547BAA9-1369-CE11-DD06-3380B4D0D7C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 rot="1165979">
                <a:off x="2371468" y="3758962"/>
                <a:ext cx="155880" cy="158400"/>
              </a:xfrm>
              <a:prstGeom prst="rect">
                <a:avLst/>
              </a:prstGeom>
            </p:spPr>
          </p:pic>
        </mc:Fallback>
      </mc:AlternateContent>
      <p:pic>
        <p:nvPicPr>
          <p:cNvPr id="6152" name="Picture 8">
            <a:extLst>
              <a:ext uri="{FF2B5EF4-FFF2-40B4-BE49-F238E27FC236}">
                <a16:creationId xmlns:a16="http://schemas.microsoft.com/office/drawing/2014/main" id="{B5B9A8FE-A004-05B5-FAA3-FF955CFDB6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35" t="8518" r="32224" b="16945"/>
          <a:stretch>
            <a:fillRect/>
          </a:stretch>
        </p:blipFill>
        <p:spPr bwMode="auto">
          <a:xfrm rot="16200000">
            <a:off x="8945226" y="3282467"/>
            <a:ext cx="1456714" cy="374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Encre 18">
                <a:extLst>
                  <a:ext uri="{FF2B5EF4-FFF2-40B4-BE49-F238E27FC236}">
                    <a16:creationId xmlns:a16="http://schemas.microsoft.com/office/drawing/2014/main" id="{CA691FE2-D681-B3C7-227F-B768940700D7}"/>
                  </a:ext>
                </a:extLst>
              </p14:cNvPr>
              <p14:cNvContentPartPr/>
              <p14:nvPr/>
            </p14:nvContentPartPr>
            <p14:xfrm rot="21118535">
              <a:off x="6965441" y="3307262"/>
              <a:ext cx="1331210" cy="1331210"/>
            </p14:xfrm>
          </p:contentPart>
        </mc:Choice>
        <mc:Fallback xmlns="">
          <p:pic>
            <p:nvPicPr>
              <p:cNvPr id="19" name="Encre 18">
                <a:extLst>
                  <a:ext uri="{FF2B5EF4-FFF2-40B4-BE49-F238E27FC236}">
                    <a16:creationId xmlns:a16="http://schemas.microsoft.com/office/drawing/2014/main" id="{CA691FE2-D681-B3C7-227F-B768940700D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 rot="21118535">
                <a:off x="6956079" y="3297900"/>
                <a:ext cx="1349934" cy="13499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0" name="Encre 19">
                <a:extLst>
                  <a:ext uri="{FF2B5EF4-FFF2-40B4-BE49-F238E27FC236}">
                    <a16:creationId xmlns:a16="http://schemas.microsoft.com/office/drawing/2014/main" id="{4B59D204-7DBD-9CDB-DA8D-80AE608C4DB9}"/>
                  </a:ext>
                </a:extLst>
              </p14:cNvPr>
              <p14:cNvContentPartPr/>
              <p14:nvPr/>
            </p14:nvContentPartPr>
            <p14:xfrm rot="20920119">
              <a:off x="8242317" y="4415452"/>
              <a:ext cx="143640" cy="146160"/>
            </p14:xfrm>
          </p:contentPart>
        </mc:Choice>
        <mc:Fallback xmlns="">
          <p:pic>
            <p:nvPicPr>
              <p:cNvPr id="20" name="Encre 19">
                <a:extLst>
                  <a:ext uri="{FF2B5EF4-FFF2-40B4-BE49-F238E27FC236}">
                    <a16:creationId xmlns:a16="http://schemas.microsoft.com/office/drawing/2014/main" id="{4B59D204-7DBD-9CDB-DA8D-80AE608C4DB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 rot="20920119">
                <a:off x="8236197" y="4409317"/>
                <a:ext cx="155880" cy="15843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8610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1ACBD-95A7-E4CD-B4A4-8569876C9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2EF01E-BE82-DB24-3963-C0B90D73A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Solution proposée: Intégration</a:t>
            </a:r>
            <a:endParaRPr lang="fr-CA" dirty="0"/>
          </a:p>
        </p:txBody>
      </p:sp>
      <p:sp>
        <p:nvSpPr>
          <p:cNvPr id="5" name="AutoShape 8">
            <a:extLst>
              <a:ext uri="{FF2B5EF4-FFF2-40B4-BE49-F238E27FC236}">
                <a16:creationId xmlns:a16="http://schemas.microsoft.com/office/drawing/2014/main" id="{946CC854-44BF-8542-9D8C-3407008C16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81075" y="2566988"/>
            <a:ext cx="10534650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0BCE4060-72EE-3DA4-A2DF-61E4DEB83F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0782" y="4011660"/>
            <a:ext cx="10534650" cy="313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300E7EE-8374-9138-E433-E470626361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049747" y="890244"/>
            <a:ext cx="4064001" cy="542040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1B963669-13F7-3CAA-AF03-DF1EF7BDC8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46825" y="830374"/>
            <a:ext cx="4460825" cy="594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093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B6ABD-FC4C-836A-3E37-362A37D88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9418DD-E8ED-DC38-6532-9481088F4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Solution proposée : Serveur</a:t>
            </a:r>
            <a:endParaRPr lang="fr-CA" dirty="0"/>
          </a:p>
        </p:txBody>
      </p:sp>
      <p:sp>
        <p:nvSpPr>
          <p:cNvPr id="5" name="AutoShape 8">
            <a:extLst>
              <a:ext uri="{FF2B5EF4-FFF2-40B4-BE49-F238E27FC236}">
                <a16:creationId xmlns:a16="http://schemas.microsoft.com/office/drawing/2014/main" id="{D3F79CEE-CADB-4DE9-DBFD-1A00DC677B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81075" y="2566988"/>
            <a:ext cx="10534650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35568519-604E-8CE1-E34A-9A5127AA99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0782" y="4011660"/>
            <a:ext cx="10534650" cy="313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473AAAA3-B874-3A90-4867-D87AFDE6D1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46" t="34727" r="21387" b="31443"/>
          <a:stretch>
            <a:fillRect/>
          </a:stretch>
        </p:blipFill>
        <p:spPr>
          <a:xfrm>
            <a:off x="3030550" y="3929802"/>
            <a:ext cx="3439236" cy="2320120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995D6660-4E79-DED4-B2BB-59C041273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12" y="1524841"/>
            <a:ext cx="8305800" cy="195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Encre 13">
                <a:extLst>
                  <a:ext uri="{FF2B5EF4-FFF2-40B4-BE49-F238E27FC236}">
                    <a16:creationId xmlns:a16="http://schemas.microsoft.com/office/drawing/2014/main" id="{BC6C979B-A991-4152-73E2-748B4AD8BB48}"/>
                  </a:ext>
                </a:extLst>
              </p14:cNvPr>
              <p14:cNvContentPartPr/>
              <p14:nvPr/>
            </p14:nvContentPartPr>
            <p14:xfrm rot="2770208">
              <a:off x="4248551" y="3247729"/>
              <a:ext cx="1042200" cy="1042200"/>
            </p14:xfrm>
          </p:contentPart>
        </mc:Choice>
        <mc:Fallback xmlns="">
          <p:pic>
            <p:nvPicPr>
              <p:cNvPr id="14" name="Encre 13">
                <a:extLst>
                  <a:ext uri="{FF2B5EF4-FFF2-40B4-BE49-F238E27FC236}">
                    <a16:creationId xmlns:a16="http://schemas.microsoft.com/office/drawing/2014/main" id="{BC6C979B-A991-4152-73E2-748B4AD8BB4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2770208">
                <a:off x="4239191" y="3238729"/>
                <a:ext cx="1060920" cy="10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Encre 16">
                <a:extLst>
                  <a:ext uri="{FF2B5EF4-FFF2-40B4-BE49-F238E27FC236}">
                    <a16:creationId xmlns:a16="http://schemas.microsoft.com/office/drawing/2014/main" id="{6637E94E-0FF8-A71D-B4A7-8E98A84C745C}"/>
                  </a:ext>
                </a:extLst>
              </p14:cNvPr>
              <p14:cNvContentPartPr/>
              <p14:nvPr/>
            </p14:nvContentPartPr>
            <p14:xfrm>
              <a:off x="4645843" y="4408750"/>
              <a:ext cx="219600" cy="114480"/>
            </p14:xfrm>
          </p:contentPart>
        </mc:Choice>
        <mc:Fallback xmlns="">
          <p:pic>
            <p:nvPicPr>
              <p:cNvPr id="17" name="Encre 16">
                <a:extLst>
                  <a:ext uri="{FF2B5EF4-FFF2-40B4-BE49-F238E27FC236}">
                    <a16:creationId xmlns:a16="http://schemas.microsoft.com/office/drawing/2014/main" id="{6637E94E-0FF8-A71D-B4A7-8E98A84C745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39723" y="4402630"/>
                <a:ext cx="231840" cy="126720"/>
              </a:xfrm>
              <a:prstGeom prst="rect">
                <a:avLst/>
              </a:prstGeom>
            </p:spPr>
          </p:pic>
        </mc:Fallback>
      </mc:AlternateContent>
      <p:pic>
        <p:nvPicPr>
          <p:cNvPr id="21" name="Image 20">
            <a:extLst>
              <a:ext uri="{FF2B5EF4-FFF2-40B4-BE49-F238E27FC236}">
                <a16:creationId xmlns:a16="http://schemas.microsoft.com/office/drawing/2014/main" id="{B8F6AC6C-73EA-EAC0-0C0E-C61AE06E42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4033" y="3462617"/>
            <a:ext cx="4639892" cy="299869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2" name="Encre 21">
                <a:extLst>
                  <a:ext uri="{FF2B5EF4-FFF2-40B4-BE49-F238E27FC236}">
                    <a16:creationId xmlns:a16="http://schemas.microsoft.com/office/drawing/2014/main" id="{5DA652B4-F4BA-7725-2E73-D7AB042C8ADC}"/>
                  </a:ext>
                </a:extLst>
              </p14:cNvPr>
              <p14:cNvContentPartPr/>
              <p14:nvPr/>
            </p14:nvContentPartPr>
            <p14:xfrm rot="322449">
              <a:off x="7649034" y="2351524"/>
              <a:ext cx="903446" cy="903446"/>
            </p14:xfrm>
          </p:contentPart>
        </mc:Choice>
        <mc:Fallback xmlns="">
          <p:pic>
            <p:nvPicPr>
              <p:cNvPr id="22" name="Encre 21">
                <a:extLst>
                  <a:ext uri="{FF2B5EF4-FFF2-40B4-BE49-F238E27FC236}">
                    <a16:creationId xmlns:a16="http://schemas.microsoft.com/office/drawing/2014/main" id="{5DA652B4-F4BA-7725-2E73-D7AB042C8AD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322449">
                <a:off x="7639672" y="2342162"/>
                <a:ext cx="922170" cy="9221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Encre 22">
                <a:extLst>
                  <a:ext uri="{FF2B5EF4-FFF2-40B4-BE49-F238E27FC236}">
                    <a16:creationId xmlns:a16="http://schemas.microsoft.com/office/drawing/2014/main" id="{47378FD2-AED2-86F3-55BA-27D37B5446A1}"/>
                  </a:ext>
                </a:extLst>
              </p14:cNvPr>
              <p14:cNvContentPartPr/>
              <p14:nvPr/>
            </p14:nvContentPartPr>
            <p14:xfrm rot="20050517">
              <a:off x="8376656" y="3203743"/>
              <a:ext cx="219600" cy="114480"/>
            </p14:xfrm>
          </p:contentPart>
        </mc:Choice>
        <mc:Fallback xmlns="">
          <p:pic>
            <p:nvPicPr>
              <p:cNvPr id="23" name="Encre 22">
                <a:extLst>
                  <a:ext uri="{FF2B5EF4-FFF2-40B4-BE49-F238E27FC236}">
                    <a16:creationId xmlns:a16="http://schemas.microsoft.com/office/drawing/2014/main" id="{47378FD2-AED2-86F3-55BA-27D37B5446A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 rot="20050517">
                <a:off x="8370536" y="3197623"/>
                <a:ext cx="231840" cy="12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3328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A036D-4155-EFCF-2569-F3EF1F215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B75A87-08AB-5477-2887-F55081854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Solution proposée : Serveur</a:t>
            </a:r>
            <a:endParaRPr lang="fr-CA" dirty="0"/>
          </a:p>
        </p:txBody>
      </p:sp>
      <p:sp>
        <p:nvSpPr>
          <p:cNvPr id="5" name="AutoShape 8">
            <a:extLst>
              <a:ext uri="{FF2B5EF4-FFF2-40B4-BE49-F238E27FC236}">
                <a16:creationId xmlns:a16="http://schemas.microsoft.com/office/drawing/2014/main" id="{6D90EC9C-23B6-1D34-D80A-68AEB9FCE4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81075" y="2566988"/>
            <a:ext cx="10534650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39C37835-AE7B-54CC-A6E9-CD4DFE2169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0782" y="4011660"/>
            <a:ext cx="10534650" cy="313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2C87983-8479-3D20-FA8E-888C9B0F5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034" y="1388129"/>
            <a:ext cx="8204457" cy="5299273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0B40DAAB-75C9-FBB1-5535-37FD6C8A047D}"/>
              </a:ext>
            </a:extLst>
          </p:cNvPr>
          <p:cNvSpPr txBox="1"/>
          <p:nvPr/>
        </p:nvSpPr>
        <p:spPr>
          <a:xfrm>
            <a:off x="10164076" y="6084816"/>
            <a:ext cx="1310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*Données de tests*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922865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611EC-93C1-1C75-E214-D45B85644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EE3B1C-FA08-2B28-26A2-7EE4AF8FA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Solution proposée: Schéma global</a:t>
            </a:r>
            <a:endParaRPr lang="fr-CA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DC39A0FC-7331-0F0C-2B30-4B11541719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28675" y="2414588"/>
            <a:ext cx="10534650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sp>
        <p:nvSpPr>
          <p:cNvPr id="5" name="AutoShape 8">
            <a:extLst>
              <a:ext uri="{FF2B5EF4-FFF2-40B4-BE49-F238E27FC236}">
                <a16:creationId xmlns:a16="http://schemas.microsoft.com/office/drawing/2014/main" id="{1866F501-A48D-0A1A-BE21-5DA2C031B4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81075" y="2566988"/>
            <a:ext cx="10534650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D87AF58C-DC2D-FA50-2007-BEB9F3C6C4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0782" y="4011660"/>
            <a:ext cx="10534650" cy="313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0133A792-B9E6-BBF8-3B3C-3AE673EE8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01813"/>
            <a:ext cx="12192000" cy="325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91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BB32D-87CC-9AE0-ACED-2EC51D6ED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14608D-A951-DBB6-B0C2-3F1E51AC3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Tests de portée – maison</a:t>
            </a:r>
            <a:endParaRPr lang="fr-CA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D3407A82-F982-05EB-F2FC-7B2F777814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28675" y="2414588"/>
            <a:ext cx="10534650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sp>
        <p:nvSpPr>
          <p:cNvPr id="5" name="AutoShape 8">
            <a:extLst>
              <a:ext uri="{FF2B5EF4-FFF2-40B4-BE49-F238E27FC236}">
                <a16:creationId xmlns:a16="http://schemas.microsoft.com/office/drawing/2014/main" id="{623DF96D-D59C-7B21-AA0C-CC4C126B13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81075" y="2566988"/>
            <a:ext cx="10534650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05D5CA6D-6D92-099D-69F1-59DF96F798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0782" y="4011660"/>
            <a:ext cx="10534650" cy="313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BE8D08E-C8C9-A6ED-39A1-0F51E732B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134" y="1346630"/>
            <a:ext cx="9228203" cy="527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23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F1650-B02F-8090-F322-18FD2F0DF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F22128-3555-454C-C42D-BC23F374E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Tests de portée – sur site</a:t>
            </a:r>
            <a:endParaRPr lang="fr-CA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F5EC66CD-49C9-8F45-4854-832FE6AF97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28675" y="2414588"/>
            <a:ext cx="10534650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sp>
        <p:nvSpPr>
          <p:cNvPr id="5" name="AutoShape 8">
            <a:extLst>
              <a:ext uri="{FF2B5EF4-FFF2-40B4-BE49-F238E27FC236}">
                <a16:creationId xmlns:a16="http://schemas.microsoft.com/office/drawing/2014/main" id="{1A6FFFF2-9719-1A40-130B-FB339770B8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81075" y="2566988"/>
            <a:ext cx="10534650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A9B86A1D-D80E-E9B1-CA51-E11A9FB47B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0782" y="4011660"/>
            <a:ext cx="10534650" cy="313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D222018-662F-798F-F383-01E06674BB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7" t="576"/>
          <a:stretch>
            <a:fillRect/>
          </a:stretch>
        </p:blipFill>
        <p:spPr>
          <a:xfrm>
            <a:off x="1426190" y="1412542"/>
            <a:ext cx="9366913" cy="5363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386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E40D0-FB31-8BEA-86FC-30446E1F4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DCEF9B-9868-82E1-851D-C7E2B9D29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Choses à faire</a:t>
            </a:r>
            <a:endParaRPr lang="fr-CA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45D3649E-7C4C-0A6E-68C6-D3A45C3092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28675" y="2414588"/>
            <a:ext cx="10534650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sp>
        <p:nvSpPr>
          <p:cNvPr id="5" name="AutoShape 8">
            <a:extLst>
              <a:ext uri="{FF2B5EF4-FFF2-40B4-BE49-F238E27FC236}">
                <a16:creationId xmlns:a16="http://schemas.microsoft.com/office/drawing/2014/main" id="{CD391E8F-E44D-C8F2-3D88-3A7CB60720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81075" y="2566988"/>
            <a:ext cx="10534650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D1575017-4888-2C96-4F49-C23AF1DEA5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0782" y="4011660"/>
            <a:ext cx="10534650" cy="313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D8CFC80-E7B8-DB12-58D4-E3FC6ED54533}"/>
              </a:ext>
            </a:extLst>
          </p:cNvPr>
          <p:cNvSpPr txBox="1"/>
          <p:nvPr/>
        </p:nvSpPr>
        <p:spPr>
          <a:xfrm>
            <a:off x="939800" y="1587500"/>
            <a:ext cx="4699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Tests de portée avec différents paramètres LoRa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Tests de portée avec réflecteurs à </a:t>
            </a:r>
            <a:r>
              <a:rPr lang="fr-FR" dirty="0">
                <a:sym typeface="Symbol" panose="05050102010706020507" pitchFamily="18" charset="2"/>
              </a:rPr>
              <a:t>/2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Mise en place définitive du boîtier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Insertion dans la ruche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Validation du lien de communication via MQTT Broker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Changement de l’interface pour le mettre en français⚜️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FFD7234-5AD4-E991-F8DA-E4A3B29ABF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584471" y="583166"/>
            <a:ext cx="4030538" cy="5375775"/>
          </a:xfrm>
          <a:prstGeom prst="rect">
            <a:avLst/>
          </a:prstGeo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554DD3ED-C202-D73E-B88E-0197BEA18BFB}"/>
              </a:ext>
            </a:extLst>
          </p:cNvPr>
          <p:cNvSpPr/>
          <p:nvPr/>
        </p:nvSpPr>
        <p:spPr>
          <a:xfrm>
            <a:off x="7683500" y="2501900"/>
            <a:ext cx="685800" cy="32385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45A4A80C-3D10-3157-7E47-6D1693E7F2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889" b="31389"/>
          <a:stretch>
            <a:fillRect/>
          </a:stretch>
        </p:blipFill>
        <p:spPr>
          <a:xfrm>
            <a:off x="546925" y="4445000"/>
            <a:ext cx="5141850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133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A5A02-38E9-82DA-55EB-D47FE0968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D57F3A-1BF9-6E7B-E14D-075635075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Budget</a:t>
            </a:r>
            <a:endParaRPr lang="fr-CA" dirty="0"/>
          </a:p>
        </p:txBody>
      </p:sp>
      <p:sp>
        <p:nvSpPr>
          <p:cNvPr id="5" name="AutoShape 8">
            <a:extLst>
              <a:ext uri="{FF2B5EF4-FFF2-40B4-BE49-F238E27FC236}">
                <a16:creationId xmlns:a16="http://schemas.microsoft.com/office/drawing/2014/main" id="{DDC6AEC6-405A-8FF2-5913-59267E7876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81075" y="2566988"/>
            <a:ext cx="10534650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E13B3545-4BEB-A5F6-AFB6-6EF36B3EE6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249831"/>
              </p:ext>
            </p:extLst>
          </p:nvPr>
        </p:nvGraphicFramePr>
        <p:xfrm>
          <a:off x="4241800" y="630766"/>
          <a:ext cx="5911850" cy="44469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4300">
                  <a:extLst>
                    <a:ext uri="{9D8B030D-6E8A-4147-A177-3AD203B41FA5}">
                      <a16:colId xmlns:a16="http://schemas.microsoft.com/office/drawing/2014/main" val="4160188714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004166400"/>
                    </a:ext>
                  </a:extLst>
                </a:gridCol>
                <a:gridCol w="1860550">
                  <a:extLst>
                    <a:ext uri="{9D8B030D-6E8A-4147-A177-3AD203B41FA5}">
                      <a16:colId xmlns:a16="http://schemas.microsoft.com/office/drawing/2014/main" val="648972364"/>
                    </a:ext>
                  </a:extLst>
                </a:gridCol>
              </a:tblGrid>
              <a:tr h="422981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Composante</a:t>
                      </a:r>
                      <a:endParaRPr lang="fr-CA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Quantité</a:t>
                      </a:r>
                      <a:endParaRPr lang="fr-CA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Prix</a:t>
                      </a:r>
                      <a:endParaRPr lang="fr-CA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7231318"/>
                  </a:ext>
                </a:extLst>
              </a:tr>
              <a:tr h="422981">
                <a:tc>
                  <a:txBody>
                    <a:bodyPr/>
                    <a:lstStyle/>
                    <a:p>
                      <a:pPr algn="l"/>
                      <a:r>
                        <a:rPr lang="fr-FR" dirty="0"/>
                        <a:t>MCU esp32</a:t>
                      </a:r>
                      <a:endParaRPr lang="fr-CA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</a:t>
                      </a:r>
                      <a:endParaRPr lang="fr-CA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22.58$CAD</a:t>
                      </a:r>
                      <a:endParaRPr lang="fr-CA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87964457"/>
                  </a:ext>
                </a:extLst>
              </a:tr>
              <a:tr h="422981">
                <a:tc>
                  <a:txBody>
                    <a:bodyPr/>
                    <a:lstStyle/>
                    <a:p>
                      <a:pPr algn="l"/>
                      <a:r>
                        <a:rPr lang="fr-FR" dirty="0"/>
                        <a:t>Capteur SCD41</a:t>
                      </a:r>
                      <a:endParaRPr lang="fr-CA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  <a:endParaRPr lang="fr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30.79$CAD</a:t>
                      </a:r>
                      <a:endParaRPr lang="fr-CA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94705075"/>
                  </a:ext>
                </a:extLst>
              </a:tr>
              <a:tr h="422981">
                <a:tc>
                  <a:txBody>
                    <a:bodyPr/>
                    <a:lstStyle/>
                    <a:p>
                      <a:pPr algn="l"/>
                      <a:r>
                        <a:rPr lang="fr-FR" dirty="0"/>
                        <a:t>Panneau solaire 6V 2W</a:t>
                      </a:r>
                      <a:endParaRPr lang="fr-CA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  <a:endParaRPr lang="fr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20.95$CAD</a:t>
                      </a:r>
                      <a:endParaRPr lang="fr-CA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02005585"/>
                  </a:ext>
                </a:extLst>
              </a:tr>
              <a:tr h="422981">
                <a:tc>
                  <a:txBody>
                    <a:bodyPr/>
                    <a:lstStyle/>
                    <a:p>
                      <a:pPr algn="l"/>
                      <a:r>
                        <a:rPr lang="fr-FR" dirty="0"/>
                        <a:t>B</a:t>
                      </a:r>
                      <a:r>
                        <a:rPr lang="fr-CA" dirty="0"/>
                        <a:t>atterie NRC18650B</a:t>
                      </a:r>
                      <a:endParaRPr lang="fr-F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  <a:endParaRPr lang="fr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52.43$CAD</a:t>
                      </a:r>
                      <a:endParaRPr lang="fr-CA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43299207"/>
                  </a:ext>
                </a:extLst>
              </a:tr>
              <a:tr h="422981">
                <a:tc>
                  <a:txBody>
                    <a:bodyPr/>
                    <a:lstStyle/>
                    <a:p>
                      <a:pPr algn="l"/>
                      <a:r>
                        <a:rPr lang="fr-FR" dirty="0"/>
                        <a:t>Régulateur de tension CN3791</a:t>
                      </a:r>
                      <a:endParaRPr lang="fr-CA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  <a:endParaRPr lang="fr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13.29$CAD</a:t>
                      </a:r>
                      <a:endParaRPr lang="fr-CA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23634082"/>
                  </a:ext>
                </a:extLst>
              </a:tr>
              <a:tr h="422981">
                <a:tc>
                  <a:txBody>
                    <a:bodyPr/>
                    <a:lstStyle/>
                    <a:p>
                      <a:pPr algn="l"/>
                      <a:r>
                        <a:rPr lang="fr-FR" dirty="0"/>
                        <a:t>Raspberry Pi 5</a:t>
                      </a:r>
                      <a:endParaRPr lang="fr-CA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  <a:endParaRPr lang="fr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151.74$CAD</a:t>
                      </a:r>
                      <a:endParaRPr lang="fr-CA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86467285"/>
                  </a:ext>
                </a:extLst>
              </a:tr>
              <a:tr h="422981">
                <a:tc>
                  <a:txBody>
                    <a:bodyPr/>
                    <a:lstStyle/>
                    <a:p>
                      <a:pPr algn="l"/>
                      <a:r>
                        <a:rPr lang="fr-FR" dirty="0"/>
                        <a:t>Carte SD</a:t>
                      </a:r>
                      <a:endParaRPr lang="fr-CA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  <a:endParaRPr lang="fr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37.95$CAD</a:t>
                      </a:r>
                      <a:endParaRPr lang="fr-CA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0511850"/>
                  </a:ext>
                </a:extLst>
              </a:tr>
              <a:tr h="422981">
                <a:tc>
                  <a:txBody>
                    <a:bodyPr/>
                    <a:lstStyle/>
                    <a:p>
                      <a:pPr algn="l"/>
                      <a:r>
                        <a:rPr lang="fr-FR" dirty="0"/>
                        <a:t>Câbles et autres*</a:t>
                      </a:r>
                      <a:endParaRPr lang="fr-CA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-</a:t>
                      </a:r>
                      <a:endParaRPr lang="fr-CA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41.59$CAD</a:t>
                      </a:r>
                      <a:endParaRPr lang="fr-CA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6295963"/>
                  </a:ext>
                </a:extLst>
              </a:tr>
              <a:tr h="422981">
                <a:tc>
                  <a:txBody>
                    <a:bodyPr/>
                    <a:lstStyle/>
                    <a:p>
                      <a:pPr algn="l"/>
                      <a:r>
                        <a:rPr lang="fr-FR" dirty="0"/>
                        <a:t>Total (avec taxes)**</a:t>
                      </a:r>
                      <a:endParaRPr lang="fr-CA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393.8$CAD</a:t>
                      </a:r>
                      <a:endParaRPr lang="fr-CA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1286099"/>
                  </a:ext>
                </a:extLst>
              </a:tr>
            </a:tbl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48902D6E-A0DE-C0CA-75B7-D6DE714D3CE4}"/>
              </a:ext>
            </a:extLst>
          </p:cNvPr>
          <p:cNvSpPr txBox="1"/>
          <p:nvPr/>
        </p:nvSpPr>
        <p:spPr>
          <a:xfrm>
            <a:off x="6559550" y="6337300"/>
            <a:ext cx="6020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* inclut le boîtier, le boîtier pour la batterie et tous les connecteurs / adaptateurs</a:t>
            </a:r>
          </a:p>
          <a:p>
            <a:r>
              <a:rPr lang="fr-FR" sz="1200" dirty="0"/>
              <a:t>** sans compter les doublons</a:t>
            </a:r>
            <a:endParaRPr lang="fr-CA" sz="1200" dirty="0"/>
          </a:p>
        </p:txBody>
      </p:sp>
    </p:spTree>
    <p:extLst>
      <p:ext uri="{BB962C8B-B14F-4D97-AF65-F5344CB8AC3E}">
        <p14:creationId xmlns:p14="http://schemas.microsoft.com/office/powerpoint/2010/main" val="3315017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10A9A-A62E-C8D0-3905-2AFF682CA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9F4130-C289-975B-5B38-C3F809F90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Échéancier</a:t>
            </a:r>
            <a:endParaRPr lang="fr-CA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97E1613-F495-7DE9-3A99-01D7DD791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828" y="1369392"/>
            <a:ext cx="7697274" cy="522042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E5C2EC5-12A2-7691-2FD7-9688A400231F}"/>
              </a:ext>
            </a:extLst>
          </p:cNvPr>
          <p:cNvSpPr/>
          <p:nvPr/>
        </p:nvSpPr>
        <p:spPr>
          <a:xfrm>
            <a:off x="3352800" y="1818967"/>
            <a:ext cx="422787" cy="41295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49285E-02B1-9CD6-EA5B-F0BD7EFDDF10}"/>
              </a:ext>
            </a:extLst>
          </p:cNvPr>
          <p:cNvSpPr/>
          <p:nvPr/>
        </p:nvSpPr>
        <p:spPr>
          <a:xfrm>
            <a:off x="3357716" y="2580967"/>
            <a:ext cx="422787" cy="4129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B5CD1C-94DF-C7A5-2CD2-731F3E2BB4A9}"/>
              </a:ext>
            </a:extLst>
          </p:cNvPr>
          <p:cNvSpPr/>
          <p:nvPr/>
        </p:nvSpPr>
        <p:spPr>
          <a:xfrm>
            <a:off x="3352799" y="3342967"/>
            <a:ext cx="422787" cy="41295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DDEB0C-C4E3-8DF7-5569-6FE47F27ED0B}"/>
              </a:ext>
            </a:extLst>
          </p:cNvPr>
          <p:cNvSpPr/>
          <p:nvPr/>
        </p:nvSpPr>
        <p:spPr>
          <a:xfrm>
            <a:off x="3357715" y="4154128"/>
            <a:ext cx="422787" cy="4129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1CE149-9439-6C7D-795D-C2FAAC69A6E7}"/>
              </a:ext>
            </a:extLst>
          </p:cNvPr>
          <p:cNvSpPr/>
          <p:nvPr/>
        </p:nvSpPr>
        <p:spPr>
          <a:xfrm>
            <a:off x="3362631" y="5102941"/>
            <a:ext cx="422787" cy="4129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343269-5A7E-A057-AA98-4FF9A77C3D24}"/>
              </a:ext>
            </a:extLst>
          </p:cNvPr>
          <p:cNvSpPr/>
          <p:nvPr/>
        </p:nvSpPr>
        <p:spPr>
          <a:xfrm>
            <a:off x="3377379" y="5973096"/>
            <a:ext cx="422787" cy="4129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222130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301</Words>
  <Application>Microsoft Office PowerPoint</Application>
  <PresentationFormat>Grand écran</PresentationFormat>
  <Paragraphs>76</Paragraphs>
  <Slides>16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Symbol</vt:lpstr>
      <vt:lpstr>Thème Office</vt:lpstr>
      <vt:lpstr>Ruche connectée</vt:lpstr>
      <vt:lpstr>Problématique</vt:lpstr>
      <vt:lpstr>Présentation PowerPoint</vt:lpstr>
      <vt:lpstr>Solution proposée: Traitement / LoRa</vt:lpstr>
      <vt:lpstr>Solution proposée: Traitement / LoRa</vt:lpstr>
      <vt:lpstr>Solution proposée : Données</vt:lpstr>
      <vt:lpstr>Solution proposée: Alimentation</vt:lpstr>
      <vt:lpstr>Solution proposée: Intégration</vt:lpstr>
      <vt:lpstr>Solution proposée : Serveur</vt:lpstr>
      <vt:lpstr>Solution proposée : Serveur</vt:lpstr>
      <vt:lpstr>Solution proposée: Schéma global</vt:lpstr>
      <vt:lpstr>Tests de portée – maison</vt:lpstr>
      <vt:lpstr>Tests de portée – sur site</vt:lpstr>
      <vt:lpstr>Choses à faire</vt:lpstr>
      <vt:lpstr>Budget</vt:lpstr>
      <vt:lpstr>Échéancier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Clément Poulin</dc:creator>
  <cp:lastModifiedBy>Clément Poulin</cp:lastModifiedBy>
  <cp:revision>20</cp:revision>
  <dcterms:created xsi:type="dcterms:W3CDTF">2026-04-27T14:08:15Z</dcterms:created>
  <dcterms:modified xsi:type="dcterms:W3CDTF">2026-04-28T03:29:36Z</dcterms:modified>
</cp:coreProperties>
</file>