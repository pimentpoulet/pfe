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notesSlides/notesSlide1.xml" ContentType="application/vnd.openxmlformats-officedocument.presentationml.notesSlide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9" r:id="rId4"/>
    <p:sldId id="258" r:id="rId5"/>
    <p:sldId id="271" r:id="rId6"/>
    <p:sldId id="267" r:id="rId7"/>
    <p:sldId id="270" r:id="rId8"/>
    <p:sldId id="272" r:id="rId9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>
        <p:scale>
          <a:sx n="140" d="100"/>
          <a:sy n="140" d="100"/>
        </p:scale>
        <p:origin x="1026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14:15:10.1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24575,'4'0'0,"1"1"0,-1 0 0,0 0 0,0 0 0,0 1 0,0-1 0,0 1 0,-1 0 0,1 0 0,0 0 0,-1 1 0,0-1 0,6 6 0,44 47 0,-28-27 0,-17-19 0,0 1 0,-1 0 0,-1 0 0,0 1 0,0 0 0,-1 0 0,0 0 0,-1 1 0,3 12 0,-1-6 0,0 0 0,16 30 0,30 77 0,-50-124 0,0 1 0,0-1 0,1 1 0,-1-1 0,0 0 0,0 0 0,1 0 0,-1 0 0,1 0 0,-1-1 0,1 1 0,-1-1 0,1 1 0,0-1 0,-1 0 0,1 0 0,-1 0 0,1-1 0,-1 1 0,5-2 0,55-10 0,154-39 0,-192 47-455,0-1 0,26-10 0,-39 11-6371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14:15:14.6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1 130 24575,'6'0'0,"6"0"0,-1 1 0,1-1 0,0-1 0,-1 0 0,1-1 0,-1 0 0,1-1 0,-1 0 0,0-1 0,18-8 0,21-19 0,23-10 0,-29 31 91,-37 9-299,0 0 0,0-1 0,-1 1 0,1-1 0,-1 0 0,7-4 0,-3 0-6618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14:15:17.2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379 291 24575,'-5'-4'0,"0"-1"0,1 1 0,-1-1 0,1 0 0,0 0 0,1 0 0,-1 0 0,1-1 0,-3-6 0,4 9 0,-8-12 0,-1 0 0,0 1 0,-1 1 0,0 0 0,-1 0 0,0 1 0,-1 1 0,-16-10 0,-10-4 0,-79-36 0,80 48-1365,29 8-5461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27T16:14:37.594"/>
    </inkml:context>
    <inkml:brush xml:id="br0">
      <inkml:brushProperty name="width" value="0.05292" units="cm"/>
      <inkml:brushProperty name="height" value="0.05292" units="cm"/>
      <inkml:brushProperty name="ignorePressure" value="1"/>
    </inkml:brush>
  </inkml:definitions>
  <inkml:trace contextRef="#ctx0" brushRef="#br0">0 1,'3356'3355,"-3348"-3346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16:14:50.8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396 1 24575,'2'117'0,"-4"127"0,1-242 0,1 0 0,-1 0 0,0 0 0,1 0 0,-1 0 0,0 0 0,0 0 0,0 0 0,-1 0 0,1 0 0,0-1 0,-1 1 0,1 0 0,-1-1 0,1 1 0,-1-1 0,0 0 0,0 1 0,0-1 0,1 0 0,-1 0 0,0 0 0,0 0 0,-1-1 0,1 1 0,0-1 0,0 1 0,0-1 0,0 1 0,0-1 0,-3 0 0,-12 1 0,0-1 0,0 0 0,-20-3 0,6 1 0,-177 1-1365,191 1-5461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27T16:15:26.133"/>
    </inkml:context>
    <inkml:brush xml:id="br0">
      <inkml:brushProperty name="width" value="0.05292" units="cm"/>
      <inkml:brushProperty name="height" value="0.05292" units="cm"/>
      <inkml:brushProperty name="ignorePressure" value="1"/>
    </inkml:brush>
  </inkml:definitions>
  <inkml:trace contextRef="#ctx0" brushRef="#br0">0 0,'1702'1702,"-1698"-1698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16:15:26.1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396 1 24575,'2'117'0,"-4"127"0,1-242 0,1 0 0,-1 0 0,0 0 0,1 0 0,-1 0 0,0 0 0,0 0 0,0 0 0,-1 0 0,1 0 0,0-1 0,-1 1 0,1 0 0,-1-1 0,1 1 0,-1-1 0,0 0 0,0 1 0,0-1 0,1 0 0,-1 0 0,0 0 0,0 0 0,-1-1 0,1 1 0,0-1 0,0 1 0,0-1 0,0 1 0,0-1 0,-3 0 0,-12 1 0,0-1 0,0 0 0,-20-3 0,6 1 0,-177 1-1365,191 1-5461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27T16:19:18.498"/>
    </inkml:context>
    <inkml:brush xml:id="br0">
      <inkml:brushProperty name="width" value="0.05292" units="cm"/>
      <inkml:brushProperty name="height" value="0.05292" units="cm"/>
      <inkml:brushProperty name="ignorePressure" value="1"/>
    </inkml:brush>
  </inkml:definitions>
  <inkml:trace contextRef="#ctx0" brushRef="#br0">0 1,'3688'3687,"-3679"-3678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16:19:50.8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396 1 24575,'2'117'0,"-4"127"0,1-242 0,1 0 0,-1 0 0,0 0 0,1 0 0,-1 0 0,0 0 0,0 0 0,0 0 0,-1 0 0,1 0 0,0-1 0,-1 1 0,1 0 0,-1-1 0,1 1 0,-1-1 0,0 0 0,0 1 0,0-1 0,1 0 0,-1 0 0,0 0 0,0 0 0,-1-1 0,1 1 0,0-1 0,0 1 0,0-1 0,0 1 0,0-1 0,-3 0 0,-12 1 0,0-1 0,0 0 0,-20-3 0,6 1 0,-177 1-1365,191 1-5461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4ED9AA-CEB4-4AD9-8C7A-23415E96AB76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A5D545-CFC7-407B-A287-21DE5112D163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272195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5D545-CFC7-407B-A287-21DE5112D163}" type="slidenum">
              <a:rPr lang="fr-CA" smtClean="0"/>
              <a:t>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76093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473B26-E3A0-5E49-51E0-184DDF687E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81C7B34-B986-476B-2E56-1D6CCAC742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DBCBD5E-E3A6-A030-8473-88CFC92EB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7318703-B191-BDBE-F3A8-1FEEFFA211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3AAFB9-86BD-1667-B1E6-C4DBD969E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81928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3C1C61-A351-7BE8-49BB-B1CA56B6B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8C0B6C2-70FD-03D5-D21D-54C545BDD0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8AF65-0EF3-F958-C84E-B0773A8B0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BA51C2-1759-B4B1-9D6E-A8D2FF4A7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481BA2-E38B-B811-1DC2-6AE75F311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41150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F0A1E1-CD87-5EAF-9EB3-0E3ABB93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6E53A76-F5E2-46E0-509B-CCF76C105B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36C6381-55FE-5664-5FF2-8DFFDAEE8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2309411-FA1E-940D-550A-5BBA4740C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A25A22-B60E-BE58-3645-A81F7D0E6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57087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1EE2A9-D5CA-8088-9B79-6C0E49480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72110FF-CC4A-E800-81BB-53A5FF676D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5C24669-9617-7A6C-7650-41A1974496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0EDA738-5177-20AB-1DC0-0A03A65FB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409BED5-AF7F-BC05-CB33-77E533188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92E6835-62DD-B01A-EB2D-1AB7E9CD5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29831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D3E0AF-B741-2559-F702-FB0BD5C30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7581F38-EE57-A88C-42E6-6F242047A8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F72075D-00CF-9845-B868-AE855F43C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972F08D-C19B-37D0-67F9-590A615E82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C497855-A5F2-DF9B-FD89-7EA5805EA2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2611B7D-1EA6-5587-B8B8-2D488F8F3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01A64D4-E005-4E46-0B0F-E20D5E620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0753484-4C0C-71F7-61C2-D1D9A2935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96925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43EE44-335B-6117-477F-56CF80360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3AA4E69-70C4-CF75-EC7D-5582D7790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869DCAD-E8DA-6C78-1E10-17D3167E2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FA081EE-1A9D-8433-DAA7-AAC6D1882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18308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DC59EDC-1111-756F-3E7C-9887EDB56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00AC76D-38B2-5F21-A1C9-278D95947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5A7F4D9-DE81-F2AF-B34C-6C61C16FF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38162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509A8D-9F4B-E7F8-03B3-BD1CD5158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C4A1A8E-047E-7621-DBD5-92F68029E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8B004BC-1943-B215-E39A-96C15FC567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714C14B-0E9F-EC3E-7451-DD4F64E10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F1EAEB9-B5ED-2075-43FC-6C0354B0D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73C53D6-7138-83FB-F614-73E1FC701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180211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8FE089-7232-5584-2A8B-EC5CC1214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D3FD3A01-C55A-9182-BD1F-7F8DE2DEA1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019ED8D-AF7B-23BF-DC72-ABEC4A2C0C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B729008-02E4-68DD-A1BE-AC192CDB0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AEA4E7C-C5F5-F079-AD5E-35DFD3C9D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2825251-B039-BB1D-69B3-39BF92B82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173195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7C8489-3476-8828-EAA4-D4D750694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0110631-9A61-DB25-C31C-E847B1CC04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F22526-318C-7255-A28A-A187EF9EA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F7ABBEE-E6C9-98AA-A1DB-25BB58924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8BDDE7A-A6D5-F761-055B-639B7D3A4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62867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881584D-F490-2935-E43D-061681835E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40F51A3-5075-9497-C4E9-B618AA1C5D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61FA9E-312F-FDC4-417B-0628AF94B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C3B3993-6F75-C15E-7728-6747BA037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A856D12-E0FC-6918-BAFA-3647C8F29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47583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D61BA24-FC41-1056-957D-692D3E9C4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63FB53D-2B9C-1562-FAB6-F55902AA0F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012137F-DCEB-B0DA-589F-C135650340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29E1B87-FB33-FFDB-8D4B-2970952020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CC05632-6230-F5B0-E92F-666B17821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26683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customXml" Target="../ink/ink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jpg"/><Relationship Id="rId4" Type="http://schemas.openxmlformats.org/officeDocument/2006/relationships/image" Target="../media/image15.jp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customXml" Target="../ink/ink8.xml"/><Relationship Id="rId3" Type="http://schemas.openxmlformats.org/officeDocument/2006/relationships/image" Target="../media/image18.jpeg"/><Relationship Id="rId7" Type="http://schemas.openxmlformats.org/officeDocument/2006/relationships/customXml" Target="../ink/ink5.xml"/><Relationship Id="rId12" Type="http://schemas.openxmlformats.org/officeDocument/2006/relationships/image" Target="../media/image23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customXml" Target="../ink/ink7.xml"/><Relationship Id="rId5" Type="http://schemas.openxmlformats.org/officeDocument/2006/relationships/customXml" Target="../ink/ink4.xml"/><Relationship Id="rId15" Type="http://schemas.openxmlformats.org/officeDocument/2006/relationships/customXml" Target="../ink/ink9.xml"/><Relationship Id="rId10" Type="http://schemas.openxmlformats.org/officeDocument/2006/relationships/image" Target="../media/image22.png"/><Relationship Id="rId4" Type="http://schemas.openxmlformats.org/officeDocument/2006/relationships/image" Target="../media/image19.jpeg"/><Relationship Id="rId9" Type="http://schemas.openxmlformats.org/officeDocument/2006/relationships/customXml" Target="../ink/ink6.xml"/><Relationship Id="rId1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9025A39-A512-19DF-3DB6-344A3849CF9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0" y="0"/>
            <a:ext cx="1219198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F39D3E9-96B4-A3DE-3AFB-F66D9D00B7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fr-FR" dirty="0">
                <a:solidFill>
                  <a:srgbClr val="FFFFFF"/>
                </a:solidFill>
              </a:rPr>
              <a:t>Ruche connectée</a:t>
            </a:r>
            <a:endParaRPr lang="fr-CA" dirty="0">
              <a:solidFill>
                <a:srgbClr val="FFFFFF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3129AE4-8A44-0F65-82B3-379AD56681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fr-FR" sz="3200" dirty="0">
                <a:solidFill>
                  <a:srgbClr val="FFFFFF"/>
                </a:solidFill>
              </a:rPr>
              <a:t>Clément P.</a:t>
            </a:r>
          </a:p>
          <a:p>
            <a:r>
              <a:rPr lang="fr-FR" dirty="0">
                <a:solidFill>
                  <a:srgbClr val="FFFFFF"/>
                </a:solidFill>
              </a:rPr>
              <a:t>Michel P.</a:t>
            </a:r>
            <a:endParaRPr lang="fr-CA" dirty="0">
              <a:solidFill>
                <a:srgbClr val="FFFFFF"/>
              </a:solidFill>
            </a:endParaRPr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85042A6F-CF97-DD8C-42B2-F7D2485F9D40}"/>
              </a:ext>
            </a:extLst>
          </p:cNvPr>
          <p:cNvSpPr/>
          <p:nvPr/>
        </p:nvSpPr>
        <p:spPr>
          <a:xfrm>
            <a:off x="6400800" y="4406900"/>
            <a:ext cx="1409700" cy="1911350"/>
          </a:xfrm>
          <a:prstGeom prst="arc">
            <a:avLst>
              <a:gd name="adj1" fmla="val 16200000"/>
              <a:gd name="adj2" fmla="val 1041241"/>
            </a:avLst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95E689F9-2382-0DF8-F4A6-A4479F983721}"/>
              </a:ext>
            </a:extLst>
          </p:cNvPr>
          <p:cNvSpPr/>
          <p:nvPr/>
        </p:nvSpPr>
        <p:spPr>
          <a:xfrm rot="16200000">
            <a:off x="4470400" y="4641850"/>
            <a:ext cx="1847850" cy="2324100"/>
          </a:xfrm>
          <a:prstGeom prst="arc">
            <a:avLst>
              <a:gd name="adj1" fmla="val 16499047"/>
              <a:gd name="adj2" fmla="val 0"/>
            </a:avLst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4" name="Encre 23">
                <a:extLst>
                  <a:ext uri="{FF2B5EF4-FFF2-40B4-BE49-F238E27FC236}">
                    <a16:creationId xmlns:a16="http://schemas.microsoft.com/office/drawing/2014/main" id="{85E534E7-C3DA-60B5-B2EC-22A50C2AF648}"/>
                  </a:ext>
                </a:extLst>
              </p14:cNvPr>
              <p14:cNvContentPartPr/>
              <p14:nvPr/>
            </p14:nvContentPartPr>
            <p14:xfrm>
              <a:off x="4140200" y="5543260"/>
              <a:ext cx="262080" cy="163440"/>
            </p14:xfrm>
          </p:contentPart>
        </mc:Choice>
        <mc:Fallback>
          <p:pic>
            <p:nvPicPr>
              <p:cNvPr id="24" name="Encre 23">
                <a:extLst>
                  <a:ext uri="{FF2B5EF4-FFF2-40B4-BE49-F238E27FC236}">
                    <a16:creationId xmlns:a16="http://schemas.microsoft.com/office/drawing/2014/main" id="{85E534E7-C3DA-60B5-B2EC-22A50C2AF64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31200" y="5534620"/>
                <a:ext cx="279720" cy="181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e 27">
            <a:extLst>
              <a:ext uri="{FF2B5EF4-FFF2-40B4-BE49-F238E27FC236}">
                <a16:creationId xmlns:a16="http://schemas.microsoft.com/office/drawing/2014/main" id="{1801CF23-8F84-DFE4-9115-D64A0DE9E5A5}"/>
              </a:ext>
            </a:extLst>
          </p:cNvPr>
          <p:cNvGrpSpPr/>
          <p:nvPr/>
        </p:nvGrpSpPr>
        <p:grpSpPr>
          <a:xfrm>
            <a:off x="7661360" y="5457940"/>
            <a:ext cx="279720" cy="105120"/>
            <a:chOff x="7661360" y="5457940"/>
            <a:chExt cx="279720" cy="10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26" name="Encre 25">
                  <a:extLst>
                    <a:ext uri="{FF2B5EF4-FFF2-40B4-BE49-F238E27FC236}">
                      <a16:creationId xmlns:a16="http://schemas.microsoft.com/office/drawing/2014/main" id="{0A478C23-D13A-73EB-054B-46D22FBA628A}"/>
                    </a:ext>
                  </a:extLst>
                </p14:cNvPr>
                <p14:cNvContentPartPr/>
                <p14:nvPr/>
              </p14:nvContentPartPr>
              <p14:xfrm>
                <a:off x="7803920" y="5515900"/>
                <a:ext cx="137160" cy="47160"/>
              </p14:xfrm>
            </p:contentPart>
          </mc:Choice>
          <mc:Fallback>
            <p:pic>
              <p:nvPicPr>
                <p:cNvPr id="26" name="Encre 25">
                  <a:extLst>
                    <a:ext uri="{FF2B5EF4-FFF2-40B4-BE49-F238E27FC236}">
                      <a16:creationId xmlns:a16="http://schemas.microsoft.com/office/drawing/2014/main" id="{0A478C23-D13A-73EB-054B-46D22FBA628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795280" y="5506900"/>
                  <a:ext cx="15480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27" name="Encre 26">
                  <a:extLst>
                    <a:ext uri="{FF2B5EF4-FFF2-40B4-BE49-F238E27FC236}">
                      <a16:creationId xmlns:a16="http://schemas.microsoft.com/office/drawing/2014/main" id="{DB4FA56B-FB40-CF0E-3F8C-55DB4865EDDF}"/>
                    </a:ext>
                  </a:extLst>
                </p14:cNvPr>
                <p14:cNvContentPartPr/>
                <p14:nvPr/>
              </p14:nvContentPartPr>
              <p14:xfrm>
                <a:off x="7661360" y="5457940"/>
                <a:ext cx="136800" cy="104760"/>
              </p14:xfrm>
            </p:contentPart>
          </mc:Choice>
          <mc:Fallback>
            <p:pic>
              <p:nvPicPr>
                <p:cNvPr id="27" name="Encre 26">
                  <a:extLst>
                    <a:ext uri="{FF2B5EF4-FFF2-40B4-BE49-F238E27FC236}">
                      <a16:creationId xmlns:a16="http://schemas.microsoft.com/office/drawing/2014/main" id="{DB4FA56B-FB40-CF0E-3F8C-55DB4865EDD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652360" y="5449300"/>
                  <a:ext cx="154440" cy="122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1562801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E05D1D64-2C14-A053-B70F-35B1328B3A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9656" y="578066"/>
            <a:ext cx="4186451" cy="5581934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272F617C-717C-88F9-B29D-CF6E831C1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931" y="201352"/>
            <a:ext cx="10515600" cy="1325563"/>
          </a:xfrm>
        </p:spPr>
        <p:txBody>
          <a:bodyPr/>
          <a:lstStyle/>
          <a:p>
            <a:r>
              <a:rPr lang="fr-FR" dirty="0"/>
              <a:t>Problématique</a:t>
            </a:r>
            <a:endParaRPr lang="fr-CA" dirty="0"/>
          </a:p>
        </p:txBody>
      </p:sp>
      <p:sp>
        <p:nvSpPr>
          <p:cNvPr id="11" name="Espace réservé du contenu 2">
            <a:extLst>
              <a:ext uri="{FF2B5EF4-FFF2-40B4-BE49-F238E27FC236}">
                <a16:creationId xmlns:a16="http://schemas.microsoft.com/office/drawing/2014/main" id="{6E75E243-DC7D-3C91-1D73-6A73F0DCD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564" y="1541091"/>
            <a:ext cx="4202890" cy="4351338"/>
          </a:xfrm>
        </p:spPr>
        <p:txBody>
          <a:bodyPr/>
          <a:lstStyle/>
          <a:p>
            <a:r>
              <a:rPr lang="fr-FR" dirty="0"/>
              <a:t>État de santé inconnu</a:t>
            </a:r>
          </a:p>
          <a:p>
            <a:r>
              <a:rPr lang="fr-FR" dirty="0"/>
              <a:t>Besoin de déplacement</a:t>
            </a:r>
          </a:p>
          <a:p>
            <a:r>
              <a:rPr lang="fr-FR" dirty="0"/>
              <a:t>Suivi dans le temps compliqué</a:t>
            </a:r>
          </a:p>
          <a:p>
            <a:r>
              <a:rPr lang="fr-FR" dirty="0"/>
              <a:t>Il n’y a pas de réseau à proximité</a:t>
            </a:r>
          </a:p>
          <a:p>
            <a:endParaRPr lang="fr-FR" dirty="0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881D3D5E-F6FA-008B-D433-35CE32CC1F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171" y="581892"/>
            <a:ext cx="2573483" cy="3431310"/>
          </a:xfrm>
          <a:prstGeom prst="rect">
            <a:avLst/>
          </a:prstGeom>
        </p:spPr>
      </p:pic>
      <p:sp>
        <p:nvSpPr>
          <p:cNvPr id="14" name="AutoShape 6">
            <a:extLst>
              <a:ext uri="{FF2B5EF4-FFF2-40B4-BE49-F238E27FC236}">
                <a16:creationId xmlns:a16="http://schemas.microsoft.com/office/drawing/2014/main" id="{234C0ABF-1A7B-E60C-6655-4AFF8DBCFA7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629025" y="2371725"/>
            <a:ext cx="4933950" cy="2114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CC1E27CF-7EB0-4DCB-A102-B20FBCDF0E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1240" y="4107266"/>
            <a:ext cx="4933950" cy="2114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60872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647920-533E-B284-E101-421773242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96CF2A2B-0745-440C-9224-C5C6A0A42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BE6D6B-84C9-4D2B-97EB-773B7369EF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A5A3923F-7650-9BBC-8315-F41AFE659FC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90" b="20530"/>
          <a:stretch>
            <a:fillRect/>
          </a:stretch>
        </p:blipFill>
        <p:spPr>
          <a:xfrm>
            <a:off x="0" y="10"/>
            <a:ext cx="12192001" cy="6857990"/>
          </a:xfrm>
          <a:prstGeom prst="rect">
            <a:avLst/>
          </a:prstGeom>
        </p:spPr>
      </p:pic>
      <p:sp>
        <p:nvSpPr>
          <p:cNvPr id="20" name="Content Placeholder 8">
            <a:extLst>
              <a:ext uri="{FF2B5EF4-FFF2-40B4-BE49-F238E27FC236}">
                <a16:creationId xmlns:a16="http://schemas.microsoft.com/office/drawing/2014/main" id="{B4294855-928A-0AC3-6882-2176E3D84B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073" y="185085"/>
            <a:ext cx="2237927" cy="475315"/>
          </a:xfrm>
          <a:solidFill>
            <a:schemeClr val="tx1"/>
          </a:solidFill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</a:rPr>
              <a:t>Plan du site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0F15E9EA-AADC-82D0-8E87-D6F0522593C4}"/>
              </a:ext>
            </a:extLst>
          </p:cNvPr>
          <p:cNvSpPr/>
          <p:nvPr/>
        </p:nvSpPr>
        <p:spPr>
          <a:xfrm>
            <a:off x="6089650" y="1219200"/>
            <a:ext cx="755650" cy="46355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01884E9-1F8B-4013-2F1D-A106133218CB}"/>
              </a:ext>
            </a:extLst>
          </p:cNvPr>
          <p:cNvSpPr txBox="1"/>
          <p:nvPr/>
        </p:nvSpPr>
        <p:spPr>
          <a:xfrm>
            <a:off x="6940550" y="1035050"/>
            <a:ext cx="231775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Centre-ville (maison)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ABD4F4EC-5FD2-E5B6-BED4-B924936296C4}"/>
              </a:ext>
            </a:extLst>
          </p:cNvPr>
          <p:cNvSpPr/>
          <p:nvPr/>
        </p:nvSpPr>
        <p:spPr>
          <a:xfrm rot="19595499">
            <a:off x="8476263" y="3768487"/>
            <a:ext cx="687596" cy="1519619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CF751096-73E6-2468-07B6-692F6190D960}"/>
              </a:ext>
            </a:extLst>
          </p:cNvPr>
          <p:cNvSpPr txBox="1"/>
          <p:nvPr/>
        </p:nvSpPr>
        <p:spPr>
          <a:xfrm>
            <a:off x="9340850" y="4241800"/>
            <a:ext cx="93980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Ruches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45991A09-4A33-633B-66EB-2F373C258673}"/>
              </a:ext>
            </a:extLst>
          </p:cNvPr>
          <p:cNvCxnSpPr>
            <a:cxnSpLocks/>
          </p:cNvCxnSpPr>
          <p:nvPr/>
        </p:nvCxnSpPr>
        <p:spPr>
          <a:xfrm>
            <a:off x="6699250" y="1714500"/>
            <a:ext cx="1631950" cy="209550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ZoneTexte 21">
            <a:extLst>
              <a:ext uri="{FF2B5EF4-FFF2-40B4-BE49-F238E27FC236}">
                <a16:creationId xmlns:a16="http://schemas.microsoft.com/office/drawing/2014/main" id="{B0C527AB-A5C8-C78C-5400-254B80F9CB09}"/>
              </a:ext>
            </a:extLst>
          </p:cNvPr>
          <p:cNvSpPr txBox="1"/>
          <p:nvPr/>
        </p:nvSpPr>
        <p:spPr>
          <a:xfrm>
            <a:off x="7766050" y="2527300"/>
            <a:ext cx="189865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Distance: ~18km</a:t>
            </a:r>
            <a:endParaRPr lang="fr-CA" dirty="0">
              <a:solidFill>
                <a:schemeClr val="bg1"/>
              </a:solidFill>
            </a:endParaRPr>
          </a:p>
        </p:txBody>
      </p: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F51B8D2A-03A1-40ED-080B-3F7F0A721C43}"/>
              </a:ext>
            </a:extLst>
          </p:cNvPr>
          <p:cNvCxnSpPr>
            <a:cxnSpLocks/>
          </p:cNvCxnSpPr>
          <p:nvPr/>
        </p:nvCxnSpPr>
        <p:spPr>
          <a:xfrm>
            <a:off x="1454150" y="3702050"/>
            <a:ext cx="6845300" cy="79375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Ellipse 25">
            <a:extLst>
              <a:ext uri="{FF2B5EF4-FFF2-40B4-BE49-F238E27FC236}">
                <a16:creationId xmlns:a16="http://schemas.microsoft.com/office/drawing/2014/main" id="{33E6410C-788F-3311-85E6-0AF6E9527E1D}"/>
              </a:ext>
            </a:extLst>
          </p:cNvPr>
          <p:cNvSpPr/>
          <p:nvPr/>
        </p:nvSpPr>
        <p:spPr>
          <a:xfrm>
            <a:off x="114300" y="3117850"/>
            <a:ext cx="1250950" cy="100965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2379F5ED-E806-4878-207C-D69CE5BB7DA7}"/>
              </a:ext>
            </a:extLst>
          </p:cNvPr>
          <p:cNvSpPr txBox="1"/>
          <p:nvPr/>
        </p:nvSpPr>
        <p:spPr>
          <a:xfrm>
            <a:off x="3695700" y="4292600"/>
            <a:ext cx="189865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Distance: ~200m</a:t>
            </a:r>
            <a:endParaRPr lang="fr-CA" dirty="0">
              <a:solidFill>
                <a:schemeClr val="bg1"/>
              </a:solidFill>
            </a:endParaRP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16782D06-DFBE-FA28-0678-DD57D096F285}"/>
              </a:ext>
            </a:extLst>
          </p:cNvPr>
          <p:cNvSpPr txBox="1"/>
          <p:nvPr/>
        </p:nvSpPr>
        <p:spPr>
          <a:xfrm>
            <a:off x="323850" y="2686050"/>
            <a:ext cx="217805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Wi-Fi le plus proche</a:t>
            </a:r>
          </a:p>
        </p:txBody>
      </p:sp>
    </p:spTree>
    <p:extLst>
      <p:ext uri="{BB962C8B-B14F-4D97-AF65-F5344CB8AC3E}">
        <p14:creationId xmlns:p14="http://schemas.microsoft.com/office/powerpoint/2010/main" val="2586445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4D6A6-B948-4EE7-1B0B-4470C6132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82021E-2B84-BE99-0003-A21B9608D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504899" cy="1934523"/>
          </a:xfrm>
        </p:spPr>
        <p:txBody>
          <a:bodyPr/>
          <a:lstStyle/>
          <a:p>
            <a:r>
              <a:rPr lang="fr-FR" dirty="0"/>
              <a:t>Solution proposée: Lora</a:t>
            </a:r>
            <a:endParaRPr lang="fr-CA" dirty="0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7B23A74C-5E88-50A1-BCB5-201B5D59BD8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81075" y="25669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6" name="AutoShape 12">
            <a:extLst>
              <a:ext uri="{FF2B5EF4-FFF2-40B4-BE49-F238E27FC236}">
                <a16:creationId xmlns:a16="http://schemas.microsoft.com/office/drawing/2014/main" id="{5E982F2E-83A1-1807-F5F7-23773297D1F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0782" y="4011660"/>
            <a:ext cx="105346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6288DBA-D90F-EC9A-89F7-933DF38CFB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2" y="2556671"/>
            <a:ext cx="5534168" cy="3627542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5188D8A0-39D8-44C6-D42E-76D85267A6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3247" y="768116"/>
            <a:ext cx="5626108" cy="193144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D9F83BF6-1A68-0F23-3892-0D5D04B85D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7950" y="2930667"/>
            <a:ext cx="5973516" cy="3295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93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8C908-3B57-7701-FE17-5CA148382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20DC7D-78CF-6365-BFDD-60C42A463C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504899" cy="1934523"/>
          </a:xfrm>
        </p:spPr>
        <p:txBody>
          <a:bodyPr/>
          <a:lstStyle/>
          <a:p>
            <a:r>
              <a:rPr lang="fr-FR" dirty="0"/>
              <a:t>Solution proposée: Lora</a:t>
            </a:r>
            <a:endParaRPr lang="fr-CA" dirty="0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E3667ABC-4928-9F1A-4760-488BA884C51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81075" y="25669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6" name="AutoShape 12">
            <a:extLst>
              <a:ext uri="{FF2B5EF4-FFF2-40B4-BE49-F238E27FC236}">
                <a16:creationId xmlns:a16="http://schemas.microsoft.com/office/drawing/2014/main" id="{506D8DE7-2D9B-66E8-1E67-1A2F3634EF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0782" y="4011660"/>
            <a:ext cx="105346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31493AFE-31C1-8CD7-7E33-974253D7A1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3247" y="768116"/>
            <a:ext cx="5626108" cy="193144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58ADB9E-39D8-F828-1ADB-77E375DFF6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7950" y="2930667"/>
            <a:ext cx="5973516" cy="3295934"/>
          </a:xfrm>
          <a:prstGeom prst="rect">
            <a:avLst/>
          </a:prstGeom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A837AFF3-DBF5-317F-8803-96E6244EDF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502" y="2417483"/>
            <a:ext cx="4999038" cy="3384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97450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9557D-11B7-6B8A-D415-28574E68A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3C4EFE-0E81-FEC0-3FB8-7FB1DFF5E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Solution proposée : Données</a:t>
            </a:r>
            <a:endParaRPr lang="fr-CA" dirty="0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76D3A70E-0B42-6E71-2AF8-21C8D6F9903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52475" y="18176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6" name="AutoShape 12">
            <a:extLst>
              <a:ext uri="{FF2B5EF4-FFF2-40B4-BE49-F238E27FC236}">
                <a16:creationId xmlns:a16="http://schemas.microsoft.com/office/drawing/2014/main" id="{4A77A5E0-C974-B2F8-7DF0-A64B84815BF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0782" y="4011660"/>
            <a:ext cx="105346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pic>
        <p:nvPicPr>
          <p:cNvPr id="8194" name="Picture 2" descr="Top view of Adafruit SCD-41 - NDIR CO2 Temperature and Humidity Sensor.">
            <a:extLst>
              <a:ext uri="{FF2B5EF4-FFF2-40B4-BE49-F238E27FC236}">
                <a16:creationId xmlns:a16="http://schemas.microsoft.com/office/drawing/2014/main" id="{AC481F42-CBB2-91AC-FEB1-0D852AA63A7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48" t="17881" r="23111" b="17747"/>
          <a:stretch>
            <a:fillRect/>
          </a:stretch>
        </p:blipFill>
        <p:spPr bwMode="auto">
          <a:xfrm>
            <a:off x="8609747" y="356736"/>
            <a:ext cx="3022979" cy="2722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C85F653C-3731-DE8A-930D-EA87E60492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9400" y="1601863"/>
            <a:ext cx="4066779" cy="477988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218C40AE-665E-8DF2-1CAB-0AFFA5CE69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50" t="16262" r="22639" b="28738"/>
          <a:stretch>
            <a:fillRect/>
          </a:stretch>
        </p:blipFill>
        <p:spPr>
          <a:xfrm>
            <a:off x="628650" y="1631950"/>
            <a:ext cx="3143250" cy="377190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30E5732B-CDC8-6E05-A8D0-88B04E77D3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59" t="30556" r="26914" b="29166"/>
          <a:stretch>
            <a:fillRect/>
          </a:stretch>
        </p:blipFill>
        <p:spPr>
          <a:xfrm>
            <a:off x="8621840" y="3733800"/>
            <a:ext cx="3132010" cy="263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7583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E2230-C1DB-DA6A-2D27-0EE6D995F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1F221F-FA45-49AF-8BA4-BFB8A8DD6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Solution proposée: Alimentation</a:t>
            </a:r>
            <a:endParaRPr lang="fr-CA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BF2B2C9-F3EB-1705-30EA-BE77F3BA3D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452" y="1469339"/>
            <a:ext cx="7734300" cy="2390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D2C67F9B-0D91-3038-0135-9DADB64EE3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06" b="16318"/>
          <a:stretch>
            <a:fillRect/>
          </a:stretch>
        </p:blipFill>
        <p:spPr bwMode="auto">
          <a:xfrm>
            <a:off x="616933" y="3862316"/>
            <a:ext cx="3067797" cy="2654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CN3791 MPPT Solar Li-ion/LiPo Charging Boards: what they are and how to use  them safely">
            <a:extLst>
              <a:ext uri="{FF2B5EF4-FFF2-40B4-BE49-F238E27FC236}">
                <a16:creationId xmlns:a16="http://schemas.microsoft.com/office/drawing/2014/main" id="{D51A0C1B-348E-380F-73D4-395F948096E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50" t="28657" r="11227" b="23184"/>
          <a:stretch>
            <a:fillRect/>
          </a:stretch>
        </p:blipFill>
        <p:spPr bwMode="auto">
          <a:xfrm>
            <a:off x="3995510" y="4028121"/>
            <a:ext cx="3562066" cy="2274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8" name="Encre 7">
                <a:extLst>
                  <a:ext uri="{FF2B5EF4-FFF2-40B4-BE49-F238E27FC236}">
                    <a16:creationId xmlns:a16="http://schemas.microsoft.com/office/drawing/2014/main" id="{A33685FC-3852-22D0-FE9E-ECF34182DAAB}"/>
                  </a:ext>
                </a:extLst>
              </p14:cNvPr>
              <p14:cNvContentPartPr/>
              <p14:nvPr/>
            </p14:nvContentPartPr>
            <p14:xfrm>
              <a:off x="4342707" y="3128991"/>
              <a:ext cx="1211400" cy="1211400"/>
            </p14:xfrm>
          </p:contentPart>
        </mc:Choice>
        <mc:Fallback>
          <p:pic>
            <p:nvPicPr>
              <p:cNvPr id="8" name="Encre 7">
                <a:extLst>
                  <a:ext uri="{FF2B5EF4-FFF2-40B4-BE49-F238E27FC236}">
                    <a16:creationId xmlns:a16="http://schemas.microsoft.com/office/drawing/2014/main" id="{A33685FC-3852-22D0-FE9E-ECF34182DAA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333347" y="3119631"/>
                <a:ext cx="1230120" cy="123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0" name="Encre 9">
                <a:extLst>
                  <a:ext uri="{FF2B5EF4-FFF2-40B4-BE49-F238E27FC236}">
                    <a16:creationId xmlns:a16="http://schemas.microsoft.com/office/drawing/2014/main" id="{113394E3-9FFD-302B-8EE3-A6827F62119E}"/>
                  </a:ext>
                </a:extLst>
              </p14:cNvPr>
              <p14:cNvContentPartPr/>
              <p14:nvPr/>
            </p14:nvContentPartPr>
            <p14:xfrm>
              <a:off x="5425587" y="4203231"/>
              <a:ext cx="143640" cy="146160"/>
            </p14:xfrm>
          </p:contentPart>
        </mc:Choice>
        <mc:Fallback>
          <p:pic>
            <p:nvPicPr>
              <p:cNvPr id="10" name="Encre 9">
                <a:extLst>
                  <a:ext uri="{FF2B5EF4-FFF2-40B4-BE49-F238E27FC236}">
                    <a16:creationId xmlns:a16="http://schemas.microsoft.com/office/drawing/2014/main" id="{113394E3-9FFD-302B-8EE3-A6827F62119E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419467" y="4197111"/>
                <a:ext cx="155880" cy="15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3" name="Encre 12">
                <a:extLst>
                  <a:ext uri="{FF2B5EF4-FFF2-40B4-BE49-F238E27FC236}">
                    <a16:creationId xmlns:a16="http://schemas.microsoft.com/office/drawing/2014/main" id="{D664C9FA-5D0E-16E9-8983-A9FE25DC2CCB}"/>
                  </a:ext>
                </a:extLst>
              </p14:cNvPr>
              <p14:cNvContentPartPr/>
              <p14:nvPr/>
            </p14:nvContentPartPr>
            <p14:xfrm rot="1165979">
              <a:off x="1991283" y="3211390"/>
              <a:ext cx="614407" cy="614407"/>
            </p14:xfrm>
          </p:contentPart>
        </mc:Choice>
        <mc:Fallback>
          <p:pic>
            <p:nvPicPr>
              <p:cNvPr id="13" name="Encre 12">
                <a:extLst>
                  <a:ext uri="{FF2B5EF4-FFF2-40B4-BE49-F238E27FC236}">
                    <a16:creationId xmlns:a16="http://schemas.microsoft.com/office/drawing/2014/main" id="{D664C9FA-5D0E-16E9-8983-A9FE25DC2CC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 rot="1165979">
                <a:off x="1981925" y="3202032"/>
                <a:ext cx="633124" cy="6331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4" name="Encre 13">
                <a:extLst>
                  <a:ext uri="{FF2B5EF4-FFF2-40B4-BE49-F238E27FC236}">
                    <a16:creationId xmlns:a16="http://schemas.microsoft.com/office/drawing/2014/main" id="{6547BAA9-1369-CE11-DD06-3380B4D0D7C8}"/>
                  </a:ext>
                </a:extLst>
              </p14:cNvPr>
              <p14:cNvContentPartPr/>
              <p14:nvPr/>
            </p14:nvContentPartPr>
            <p14:xfrm rot="1165979">
              <a:off x="2377588" y="3765082"/>
              <a:ext cx="143640" cy="146160"/>
            </p14:xfrm>
          </p:contentPart>
        </mc:Choice>
        <mc:Fallback>
          <p:pic>
            <p:nvPicPr>
              <p:cNvPr id="14" name="Encre 13">
                <a:extLst>
                  <a:ext uri="{FF2B5EF4-FFF2-40B4-BE49-F238E27FC236}">
                    <a16:creationId xmlns:a16="http://schemas.microsoft.com/office/drawing/2014/main" id="{6547BAA9-1369-CE11-DD06-3380B4D0D7C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 rot="1165979">
                <a:off x="2371468" y="3758962"/>
                <a:ext cx="155880" cy="158400"/>
              </a:xfrm>
              <a:prstGeom prst="rect">
                <a:avLst/>
              </a:prstGeom>
            </p:spPr>
          </p:pic>
        </mc:Fallback>
      </mc:AlternateContent>
      <p:pic>
        <p:nvPicPr>
          <p:cNvPr id="6152" name="Picture 8">
            <a:extLst>
              <a:ext uri="{FF2B5EF4-FFF2-40B4-BE49-F238E27FC236}">
                <a16:creationId xmlns:a16="http://schemas.microsoft.com/office/drawing/2014/main" id="{B5B9A8FE-A004-05B5-FAA3-FF955CFDB6A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135" t="8518" r="32224" b="16945"/>
          <a:stretch>
            <a:fillRect/>
          </a:stretch>
        </p:blipFill>
        <p:spPr bwMode="auto">
          <a:xfrm rot="16200000">
            <a:off x="8976976" y="3822217"/>
            <a:ext cx="1456714" cy="374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9" name="Encre 18">
                <a:extLst>
                  <a:ext uri="{FF2B5EF4-FFF2-40B4-BE49-F238E27FC236}">
                    <a16:creationId xmlns:a16="http://schemas.microsoft.com/office/drawing/2014/main" id="{CA691FE2-D681-B3C7-227F-B768940700D7}"/>
                  </a:ext>
                </a:extLst>
              </p14:cNvPr>
              <p14:cNvContentPartPr/>
              <p14:nvPr/>
            </p14:nvContentPartPr>
            <p14:xfrm rot="21118535">
              <a:off x="6965441" y="3307262"/>
              <a:ext cx="1331210" cy="1331210"/>
            </p14:xfrm>
          </p:contentPart>
        </mc:Choice>
        <mc:Fallback>
          <p:pic>
            <p:nvPicPr>
              <p:cNvPr id="19" name="Encre 18">
                <a:extLst>
                  <a:ext uri="{FF2B5EF4-FFF2-40B4-BE49-F238E27FC236}">
                    <a16:creationId xmlns:a16="http://schemas.microsoft.com/office/drawing/2014/main" id="{CA691FE2-D681-B3C7-227F-B768940700D7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 rot="21118535">
                <a:off x="6956079" y="3297900"/>
                <a:ext cx="1349934" cy="13499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20" name="Encre 19">
                <a:extLst>
                  <a:ext uri="{FF2B5EF4-FFF2-40B4-BE49-F238E27FC236}">
                    <a16:creationId xmlns:a16="http://schemas.microsoft.com/office/drawing/2014/main" id="{4B59D204-7DBD-9CDB-DA8D-80AE608C4DB9}"/>
                  </a:ext>
                </a:extLst>
              </p14:cNvPr>
              <p14:cNvContentPartPr/>
              <p14:nvPr/>
            </p14:nvContentPartPr>
            <p14:xfrm rot="20920119">
              <a:off x="8261367" y="4415452"/>
              <a:ext cx="143640" cy="146160"/>
            </p14:xfrm>
          </p:contentPart>
        </mc:Choice>
        <mc:Fallback>
          <p:pic>
            <p:nvPicPr>
              <p:cNvPr id="20" name="Encre 19">
                <a:extLst>
                  <a:ext uri="{FF2B5EF4-FFF2-40B4-BE49-F238E27FC236}">
                    <a16:creationId xmlns:a16="http://schemas.microsoft.com/office/drawing/2014/main" id="{4B59D204-7DBD-9CDB-DA8D-80AE608C4DB9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 rot="20920119">
                <a:off x="8255247" y="4409332"/>
                <a:ext cx="155880" cy="158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8610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611EC-93C1-1C75-E214-D45B85644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EE3B1C-FA08-2B28-26A2-7EE4AF8FA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Solution proposée</a:t>
            </a:r>
            <a:endParaRPr lang="fr-CA" dirty="0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DC39A0FC-7331-0F0C-2B30-4B11541719C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28675" y="24145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1866F501-A48D-0A1A-BE21-5DA2C031B44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81075" y="25669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6" name="AutoShape 12">
            <a:extLst>
              <a:ext uri="{FF2B5EF4-FFF2-40B4-BE49-F238E27FC236}">
                <a16:creationId xmlns:a16="http://schemas.microsoft.com/office/drawing/2014/main" id="{D87AF58C-DC2D-FA50-2007-BEB9F3C6C4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0782" y="4011660"/>
            <a:ext cx="105346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pic>
        <p:nvPicPr>
          <p:cNvPr id="2062" name="Picture 14">
            <a:extLst>
              <a:ext uri="{FF2B5EF4-FFF2-40B4-BE49-F238E27FC236}">
                <a16:creationId xmlns:a16="http://schemas.microsoft.com/office/drawing/2014/main" id="{55D4A290-E9B3-833F-58F5-782C65A778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353" y="1925826"/>
            <a:ext cx="105346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910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D248D-1F8F-215E-4AB6-414B33EA6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45431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444CC-8807-C54E-A3A2-B870646E0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F05F0F-9BA7-BEAA-3661-8E38FF98E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89E32B2-96A1-FB1E-EE52-4EAB751106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716933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55C50-0F83-2EA5-961A-1A68D3CC9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5EAA54-4EC1-1B21-552E-B33815D78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1B5521-FA97-1CBC-FC1A-4687FF15DE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444330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9461D-DF05-2672-850B-4187122BE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A01C35-F947-21E0-CCE6-F4C230E3A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7EA4F15-4E08-FE8C-5300-2FF12C99B1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453973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13947-6AF8-9892-B022-ECE12D7EE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6126FB-C5EF-DAAF-EBE5-D45BF3AA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720F7A3-2CA5-E0C4-DC7F-243B6C637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268854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69436-136A-B8A8-6C57-038C773C7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F11928-A40D-87DD-9F4D-8D0CE6D76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FF7D125-B0FB-094A-9887-191C2542B1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9699680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68</Words>
  <Application>Microsoft Office PowerPoint</Application>
  <PresentationFormat>Grand écran</PresentationFormat>
  <Paragraphs>20</Paragraphs>
  <Slides>14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Thème Office</vt:lpstr>
      <vt:lpstr>Ruche connectée</vt:lpstr>
      <vt:lpstr>Problématique</vt:lpstr>
      <vt:lpstr>Présentation PowerPoint</vt:lpstr>
      <vt:lpstr>Solution proposée: Lora</vt:lpstr>
      <vt:lpstr>Solution proposée: Lora</vt:lpstr>
      <vt:lpstr>Solution proposée : Données</vt:lpstr>
      <vt:lpstr>Solution proposée: Alimentation</vt:lpstr>
      <vt:lpstr>Solution proposée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Clément Poulin</dc:creator>
  <cp:lastModifiedBy>Clément Poulin</cp:lastModifiedBy>
  <cp:revision>9</cp:revision>
  <dcterms:created xsi:type="dcterms:W3CDTF">2026-04-27T14:08:15Z</dcterms:created>
  <dcterms:modified xsi:type="dcterms:W3CDTF">2026-04-27T16:20:45Z</dcterms:modified>
</cp:coreProperties>
</file>